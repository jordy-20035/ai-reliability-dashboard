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Trustworthy AI Monitor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MLOps System for Model Reliability and Fairness</a:t>
            </a:r>
          </a:p>
          <a:p>
            <a:r>
              <a:t>Intermediate Meeting - November 25,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Motivation &amp; Problem Statement</a:t>
            </a:r>
          </a:p>
          <a:p>
            <a:pPr>
              <a:defRPr sz="1800">
                <a:latin typeface="Calibri"/>
              </a:defRPr>
            </a:pPr>
            <a:r>
              <a:t>Research Objectives</a:t>
            </a:r>
          </a:p>
          <a:p>
            <a:pPr>
              <a:defRPr sz="1800">
                <a:latin typeface="Calibri"/>
              </a:defRPr>
            </a:pPr>
            <a:r>
              <a:t>Scope &amp; Limitations</a:t>
            </a:r>
          </a:p>
          <a:p>
            <a:pPr>
              <a:defRPr sz="1800">
                <a:latin typeface="Calibri"/>
              </a:defRPr>
            </a:pPr>
            <a:r>
              <a:t>Technical Approach</a:t>
            </a:r>
          </a:p>
          <a:p>
            <a:pPr>
              <a:defRPr sz="1800">
                <a:latin typeface="Calibri"/>
              </a:defRPr>
            </a:pPr>
            <a:r>
              <a:t>Current Implementation Status</a:t>
            </a:r>
          </a:p>
          <a:p>
            <a:pPr>
              <a:defRPr sz="1800">
                <a:latin typeface="Calibri"/>
              </a:defRPr>
            </a:pPr>
            <a:r>
              <a:t>Metrics &amp; Monitoring</a:t>
            </a:r>
          </a:p>
          <a:p>
            <a:pPr>
              <a:defRPr sz="1800">
                <a:latin typeface="Calibri"/>
              </a:defRPr>
            </a:pPr>
            <a:r>
              <a:t>Platform Choice: Streamlit vs Prometheus/Grafana</a:t>
            </a:r>
          </a:p>
          <a:p>
            <a:pPr>
              <a:defRPr sz="1800"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ML models degrade over time in production</a:t>
            </a:r>
          </a:p>
          <a:p>
            <a:pPr>
              <a:defRPr sz="1800">
                <a:latin typeface="Calibri"/>
              </a:defRPr>
            </a:pPr>
            <a:r>
              <a:t>Data drift and concept drift affect model performance</a:t>
            </a:r>
          </a:p>
          <a:p>
            <a:pPr>
              <a:defRPr sz="1800">
                <a:latin typeface="Calibri"/>
              </a:defRPr>
            </a:pPr>
            <a:r>
              <a:t>Fairness violations can cause discriminatory outcomes</a:t>
            </a:r>
          </a:p>
          <a:p>
            <a:pPr>
              <a:defRPr sz="1800">
                <a:latin typeface="Calibri"/>
              </a:defRPr>
            </a:pPr>
            <a:r>
              <a:t>Lack of automated monitoring leads to reactive responses</a:t>
            </a:r>
          </a:p>
          <a:p>
            <a:pPr>
              <a:defRPr sz="1800">
                <a:latin typeface="Calibri"/>
              </a:defRPr>
            </a:pPr>
            <a:r>
              <a:t>Need for proactive detection and alerting systems</a:t>
            </a:r>
          </a:p>
          <a:p>
            <a:pPr>
              <a:defRPr sz="1800">
                <a:latin typeface="Calibri"/>
              </a:defRPr>
            </a:pPr>
            <a:r>
              <a:t>Trustworthy AI requires continuous reliability assessment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Develop automated pipeline for ML model monitoring</a:t>
            </a:r>
          </a:p>
          <a:p>
            <a:pPr>
              <a:defRPr sz="1800">
                <a:latin typeface="Calibri"/>
              </a:defRPr>
            </a:pPr>
            <a:r>
              <a:t>Detect data drift and performance degradation in real-time</a:t>
            </a:r>
          </a:p>
          <a:p>
            <a:pPr>
              <a:defRPr sz="1800">
                <a:latin typeface="Calibri"/>
              </a:defRPr>
            </a:pPr>
            <a:r>
              <a:t>Monitor fairness metrics across demographic groups</a:t>
            </a:r>
          </a:p>
          <a:p>
            <a:pPr>
              <a:defRPr sz="1800">
                <a:latin typeface="Calibri"/>
              </a:defRPr>
            </a:pPr>
            <a:r>
              <a:t>Provide actionable alerts when issues are detected</a:t>
            </a:r>
          </a:p>
          <a:p>
            <a:pPr>
              <a:defRPr sz="1800">
                <a:latin typeface="Calibri"/>
              </a:defRPr>
            </a:pPr>
            <a:r>
              <a:t>Create interactive dashboard for visualization</a:t>
            </a:r>
          </a:p>
          <a:p>
            <a:pPr>
              <a:defRPr sz="1800">
                <a:latin typeface="Calibri"/>
              </a:defRPr>
            </a:pPr>
            <a:r>
              <a:t>Evaluate effectiveness on real-world datasets (Adult Income, COMPAS)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Focus: Binary classification problems</a:t>
            </a:r>
          </a:p>
          <a:p>
            <a:pPr>
              <a:defRPr sz="1800">
                <a:latin typeface="Calibri"/>
              </a:defRPr>
            </a:pPr>
            <a:r>
              <a:t>Datasets: Adult Income, COMPAS, synthetic data</a:t>
            </a:r>
          </a:p>
          <a:p>
            <a:pPr>
              <a:defRPr sz="1800">
                <a:latin typeface="Calibri"/>
              </a:defRPr>
            </a:pPr>
            <a:r>
              <a:t>Models: XGBoost, LightGBM (extensible to others)</a:t>
            </a:r>
          </a:p>
          <a:p>
            <a:pPr>
              <a:defRPr sz="1800">
                <a:latin typeface="Calibri"/>
              </a:defRPr>
            </a:pPr>
            <a:r>
              <a:t>Current: Batch monitoring (real-time in future work)</a:t>
            </a:r>
          </a:p>
          <a:p>
            <a:pPr>
              <a:defRPr sz="1800">
                <a:latin typeface="Calibri"/>
              </a:defRPr>
            </a:pPr>
            <a:r>
              <a:t>Metrics: Performance, drift, fairness (expandable)</a:t>
            </a:r>
          </a:p>
          <a:p>
            <a:pPr>
              <a:defRPr sz="1800">
                <a:latin typeface="Calibri"/>
              </a:defRPr>
            </a:pPr>
            <a:r>
              <a:t>Platform: Streamlit dashboard (web-based)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Data Layer: Data loading, preprocessing, caching</a:t>
            </a:r>
          </a:p>
          <a:p>
            <a:pPr>
              <a:defRPr sz="1800">
                <a:latin typeface="Calibri"/>
              </a:defRPr>
            </a:pPr>
            <a:r>
              <a:t>Model Layer: Training, evaluation, serialization</a:t>
            </a:r>
          </a:p>
          <a:p>
            <a:pPr>
              <a:defRPr sz="1800">
                <a:latin typeface="Calibri"/>
              </a:defRPr>
            </a:pPr>
            <a:r>
              <a:t>Monitoring Layer: Performance, drift, fairness metrics</a:t>
            </a:r>
          </a:p>
          <a:p>
            <a:pPr>
              <a:defRPr sz="1800">
                <a:latin typeface="Calibri"/>
              </a:defRPr>
            </a:pPr>
            <a:r>
              <a:t>Alerting Layer: Real-time alerts based on thresholds</a:t>
            </a:r>
          </a:p>
          <a:p>
            <a:pPr>
              <a:defRPr sz="1800">
                <a:latin typeface="Calibri"/>
              </a:defRPr>
            </a:pPr>
            <a:r>
              <a:t>Dashboard Layer: Streamlit-based visualization</a:t>
            </a:r>
          </a:p>
          <a:p>
            <a:pPr>
              <a:defRPr sz="1800">
                <a:latin typeface="Calibri"/>
              </a:defRPr>
            </a:pPr>
            <a:r>
              <a:t>Storage: Models, preprocessors, results in filesystem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Implementation -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alibri"/>
              </a:defRPr>
            </a:pPr>
            <a:r>
              <a:t>PERFORMANCE METRICS:</a:t>
            </a:r>
          </a:p>
          <a:p>
            <a:pPr>
              <a:defRPr sz="1600">
                <a:latin typeface="Calibri"/>
              </a:defRPr>
            </a:pPr>
            <a:r>
              <a:t>• Accuracy</a:t>
            </a:r>
          </a:p>
          <a:p>
            <a:pPr>
              <a:defRPr sz="1600">
                <a:latin typeface="Calibri"/>
              </a:defRPr>
            </a:pPr>
            <a:r>
              <a:t>• Precision &amp; Recall</a:t>
            </a:r>
          </a:p>
          <a:p>
            <a:pPr>
              <a:defRPr sz="1600">
                <a:latin typeface="Calibri"/>
              </a:defRPr>
            </a:pPr>
            <a:r>
              <a:t>• F1 Score</a:t>
            </a:r>
          </a:p>
          <a:p>
            <a:pPr>
              <a:defRPr sz="1600">
                <a:latin typeface="Calibri"/>
              </a:defRPr>
            </a:pPr>
            <a:r>
              <a:t>• ROC AUC</a:t>
            </a:r>
          </a:p>
          <a:p>
            <a:pPr>
              <a:defRPr sz="1600">
                <a:latin typeface="Calibri"/>
              </a:defRPr>
            </a:pPr>
            <a:r>
              <a:t>• PR AUC</a:t>
            </a:r>
          </a:p>
          <a:p>
            <a:pPr>
              <a:defRPr sz="1600">
                <a:latin typeface="Calibri"/>
              </a:defRPr>
            </a:pPr>
            <a:r>
              <a:t>• Log Loss</a:t>
            </a:r>
          </a:p>
          <a:p>
            <a:pPr>
              <a:defRPr sz="1600">
                <a:latin typeface="Calibri"/>
              </a:defRPr>
            </a:pPr>
            <a:r>
              <a:t>• Confusion Matrix</a:t>
            </a:r>
          </a:p>
          <a:p>
            <a:pPr>
              <a:defRPr sz="1600">
                <a:latin typeface="Calibri"/>
              </a:defRPr>
            </a:pPr>
          </a:p>
          <a:p>
            <a:pPr>
              <a:defRPr sz="1600">
                <a:latin typeface="Calibri"/>
              </a:defRPr>
            </a:pPr>
            <a:r>
              <a:t>DRIFT DETECTION:</a:t>
            </a:r>
          </a:p>
          <a:p>
            <a:pPr>
              <a:defRPr sz="1600">
                <a:latin typeface="Calibri"/>
              </a:defRPr>
            </a:pPr>
            <a:r>
              <a:t>• Kolmogorov-Smirnov Test</a:t>
            </a:r>
          </a:p>
          <a:p>
            <a:pPr>
              <a:defRPr sz="1600">
                <a:latin typeface="Calibri"/>
              </a:defRPr>
            </a:pPr>
            <a:r>
              <a:t>• Chi-Square Test</a:t>
            </a:r>
          </a:p>
          <a:p>
            <a:pPr>
              <a:defRPr sz="1600">
                <a:latin typeface="Calibri"/>
              </a:defRPr>
            </a:pPr>
            <a:r>
              <a:t>• Population Stability Index (PSI)</a:t>
            </a:r>
          </a:p>
          <a:p>
            <a:pPr>
              <a:defRPr sz="1600">
                <a:latin typeface="Calibri"/>
              </a:defRPr>
            </a:pPr>
            <a:r>
              <a:t>• Wasserstein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alibri"/>
              </a:defRPr>
            </a:pPr>
            <a:r>
              <a:t>FAIRNESS METRICS:</a:t>
            </a:r>
          </a:p>
          <a:p>
            <a:pPr>
              <a:defRPr sz="1600">
                <a:latin typeface="Calibri"/>
              </a:defRPr>
            </a:pPr>
            <a:r>
              <a:t>• Demographic Parity Difference</a:t>
            </a:r>
          </a:p>
          <a:p>
            <a:pPr>
              <a:defRPr sz="1600">
                <a:latin typeface="Calibri"/>
              </a:defRPr>
            </a:pPr>
            <a:r>
              <a:t>• Equal Opportunity Difference</a:t>
            </a:r>
          </a:p>
          <a:p>
            <a:pPr>
              <a:defRPr sz="1600">
                <a:latin typeface="Calibri"/>
              </a:defRPr>
            </a:pPr>
            <a:r>
              <a:t>• Equalized Odds Difference</a:t>
            </a:r>
          </a:p>
          <a:p>
            <a:pPr>
              <a:defRPr sz="1600">
                <a:latin typeface="Calibri"/>
              </a:defRPr>
            </a:pPr>
            <a:r>
              <a:t>• Disparate Impact Ratio</a:t>
            </a:r>
          </a:p>
          <a:p>
            <a:pPr>
              <a:defRPr sz="1600">
                <a:latin typeface="Calibri"/>
              </a:defRPr>
            </a:pPr>
            <a:r>
              <a:t>• Group-wise Performance</a:t>
            </a:r>
          </a:p>
          <a:p>
            <a:pPr>
              <a:defRPr sz="1600">
                <a:latin typeface="Calibri"/>
              </a:defRPr>
            </a:pPr>
          </a:p>
          <a:p>
            <a:pPr>
              <a:defRPr sz="1600">
                <a:latin typeface="Calibri"/>
              </a:defRPr>
            </a:pPr>
            <a:r>
              <a:t>ALERTING:</a:t>
            </a:r>
          </a:p>
          <a:p>
            <a:pPr>
              <a:defRPr sz="1600">
                <a:latin typeface="Calibri"/>
              </a:defRPr>
            </a:pPr>
            <a:r>
              <a:t>• Performance Degradation Alerts</a:t>
            </a:r>
          </a:p>
          <a:p>
            <a:pPr>
              <a:defRPr sz="1600">
                <a:latin typeface="Calibri"/>
              </a:defRPr>
            </a:pPr>
            <a:r>
              <a:t>• Drift Detection Alerts</a:t>
            </a:r>
          </a:p>
          <a:p>
            <a:pPr>
              <a:defRPr sz="1600">
                <a:latin typeface="Calibri"/>
              </a:defRPr>
            </a:pPr>
            <a:r>
              <a:t>• Fairness Violation Alerts</a:t>
            </a:r>
          </a:p>
          <a:p>
            <a:pPr>
              <a:defRPr sz="1600">
                <a:latin typeface="Calibri"/>
              </a:defRPr>
            </a:pPr>
            <a:r>
              <a:t>• Latency Alerts</a:t>
            </a:r>
          </a:p>
          <a:p>
            <a:pPr>
              <a:defRPr sz="1600">
                <a:latin typeface="Calibri"/>
              </a:defRPr>
            </a:pPr>
          </a:p>
          <a:p>
            <a:pPr>
              <a:defRPr sz="1600">
                <a:latin typeface="Calibri"/>
              </a:defRPr>
            </a:pPr>
            <a:r>
              <a:t>VISUALIZATION:</a:t>
            </a:r>
          </a:p>
          <a:p>
            <a:pPr>
              <a:defRPr sz="1600">
                <a:latin typeface="Calibri"/>
              </a:defRPr>
            </a:pPr>
            <a:r>
              <a:t>• Performance trends</a:t>
            </a:r>
          </a:p>
          <a:p>
            <a:pPr>
              <a:defRPr sz="1600">
                <a:latin typeface="Calibri"/>
              </a:defRPr>
            </a:pPr>
            <a:r>
              <a:t>• Drift scores</a:t>
            </a:r>
          </a:p>
          <a:p>
            <a:pPr>
              <a:defRPr sz="1600">
                <a:latin typeface="Calibri"/>
              </a:defRPr>
            </a:pPr>
            <a:r>
              <a:t>• Fairness comparisons</a:t>
            </a:r>
          </a:p>
          <a:p>
            <a:pPr>
              <a:defRPr sz="1600">
                <a:latin typeface="Calibri"/>
              </a:defRPr>
            </a:pPr>
            <a:r>
              <a:t>• Prediction distributions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Choice: Streamlit vs Prometheus/Grafana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Initial Consideration: Prometheus + Grafana for enterprise monitoring</a:t>
            </a:r>
          </a:p>
          <a:p>
            <a:pPr>
              <a:defRPr sz="1800">
                <a:latin typeface="Calibri"/>
              </a:defRPr>
            </a:pPr>
            <a:r>
              <a:t>Reality Check: Streamlit better fits research/prototype needs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Why Streamlit:</a:t>
            </a:r>
          </a:p>
          <a:p>
            <a:pPr>
              <a:defRPr sz="1800">
                <a:latin typeface="Calibri"/>
              </a:defRPr>
            </a:pPr>
            <a:r>
              <a:t>• Faster development and iteration</a:t>
            </a:r>
          </a:p>
          <a:p>
            <a:pPr>
              <a:defRPr sz="1800">
                <a:latin typeface="Calibri"/>
              </a:defRPr>
            </a:pPr>
            <a:r>
              <a:t>• Built-in Python integration</a:t>
            </a:r>
          </a:p>
          <a:p>
            <a:pPr>
              <a:defRPr sz="1800">
                <a:latin typeface="Calibri"/>
              </a:defRPr>
            </a:pPr>
            <a:r>
              <a:t>• Easy to customize for research</a:t>
            </a:r>
          </a:p>
          <a:p>
            <a:pPr>
              <a:defRPr sz="1800">
                <a:latin typeface="Calibri"/>
              </a:defRPr>
            </a:pPr>
            <a:r>
              <a:t>• Interactive widgets for experimentation</a:t>
            </a:r>
          </a:p>
          <a:p>
            <a:pPr>
              <a:defRPr sz="1800">
                <a:latin typeface="Calibri"/>
              </a:defRPr>
            </a:pPr>
            <a:r>
              <a:t>• No additional infrastructure needed</a:t>
            </a:r>
          </a:p>
          <a:p>
            <a:pPr>
              <a:defRPr sz="1800">
                <a:latin typeface="Calibri"/>
              </a:defRPr>
            </a:pPr>
            <a:r>
              <a:t>• Ideal for thesis demonstration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Future: Can add Prometheus endpoints for production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Metrics: Currently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PERFORMANCE:</a:t>
            </a:r>
          </a:p>
          <a:p>
            <a:pPr>
              <a:defRPr sz="1800">
                <a:latin typeface="Calibri"/>
              </a:defRPr>
            </a:pPr>
            <a:r>
              <a:t>✓ Accuracy, Precision, Recall, F1</a:t>
            </a:r>
          </a:p>
          <a:p>
            <a:pPr>
              <a:defRPr sz="1800">
                <a:latin typeface="Calibri"/>
              </a:defRPr>
            </a:pPr>
            <a:r>
              <a:t>✓ ROC AUC, PR AUC, Log Loss</a:t>
            </a:r>
          </a:p>
          <a:p>
            <a:pPr>
              <a:defRPr sz="1800">
                <a:latin typeface="Calibri"/>
              </a:defRPr>
            </a:pPr>
            <a:r>
              <a:t>✓ Confusion Matrix metrics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DRIFT:</a:t>
            </a:r>
          </a:p>
          <a:p>
            <a:pPr>
              <a:defRPr sz="1800">
                <a:latin typeface="Calibri"/>
              </a:defRPr>
            </a:pPr>
            <a:r>
              <a:t>✓ KS Test, Chi-Square Test</a:t>
            </a:r>
          </a:p>
          <a:p>
            <a:pPr>
              <a:defRPr sz="1800">
                <a:latin typeface="Calibri"/>
              </a:defRPr>
            </a:pPr>
            <a:r>
              <a:t>✓ PSI (Population Stability Index)</a:t>
            </a:r>
          </a:p>
          <a:p>
            <a:pPr>
              <a:defRPr sz="1800">
                <a:latin typeface="Calibri"/>
              </a:defRPr>
            </a:pPr>
            <a:r>
              <a:t>✓ Wasserstein Distance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FAIRNESS:</a:t>
            </a:r>
          </a:p>
          <a:p>
            <a:pPr>
              <a:defRPr sz="1800">
                <a:latin typeface="Calibri"/>
              </a:defRPr>
            </a:pPr>
            <a:r>
              <a:t>✓ Demographic Parity</a:t>
            </a:r>
          </a:p>
          <a:p>
            <a:pPr>
              <a:defRPr sz="1800">
                <a:latin typeface="Calibri"/>
              </a:defRPr>
            </a:pPr>
            <a:r>
              <a:t>✓ Equal Opportunity</a:t>
            </a:r>
          </a:p>
          <a:p>
            <a:pPr>
              <a:defRPr sz="1800">
                <a:latin typeface="Calibri"/>
              </a:defRPr>
            </a:pPr>
            <a:r>
              <a:t>✓ Equalized Odds</a:t>
            </a:r>
          </a:p>
          <a:p>
            <a:pPr>
              <a:defRPr sz="1800">
                <a:latin typeface="Calibri"/>
              </a:defRPr>
            </a:pPr>
            <a:r>
              <a:t>✓ Disparate Impact Ratio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Metrics: Planned for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PERFORMANCE:</a:t>
            </a:r>
          </a:p>
          <a:p>
            <a:pPr>
              <a:defRPr sz="1800">
                <a:latin typeface="Calibri"/>
              </a:defRPr>
            </a:pPr>
            <a:r>
              <a:t>• Calibration metrics (ECE, Brier Score)</a:t>
            </a:r>
          </a:p>
          <a:p>
            <a:pPr>
              <a:defRPr sz="1800">
                <a:latin typeface="Calibri"/>
              </a:defRPr>
            </a:pPr>
            <a:r>
              <a:t>• Business metrics (cost, revenue, ROI)</a:t>
            </a:r>
          </a:p>
          <a:p>
            <a:pPr>
              <a:defRPr sz="1800">
                <a:latin typeface="Calibri"/>
              </a:defRPr>
            </a:pPr>
            <a:r>
              <a:t>• Confidence intervals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DRIFT:</a:t>
            </a:r>
          </a:p>
          <a:p>
            <a:pPr>
              <a:defRPr sz="1800">
                <a:latin typeface="Calibri"/>
              </a:defRPr>
            </a:pPr>
            <a:r>
              <a:t>• Concept drift detection</a:t>
            </a:r>
          </a:p>
          <a:p>
            <a:pPr>
              <a:defRPr sz="1800">
                <a:latin typeface="Calibri"/>
              </a:defRPr>
            </a:pPr>
            <a:r>
              <a:t>• Multivariate drift methods</a:t>
            </a:r>
          </a:p>
          <a:p>
            <a:pPr>
              <a:defRPr sz="1800">
                <a:latin typeface="Calibri"/>
              </a:defRPr>
            </a:pPr>
            <a:r>
              <a:t>• Drift attribution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FAIRNESS:</a:t>
            </a:r>
          </a:p>
          <a:p>
            <a:pPr>
              <a:defRPr sz="1800">
                <a:latin typeface="Calibri"/>
              </a:defRPr>
            </a:pPr>
            <a:r>
              <a:t>• Individual fairness metrics</a:t>
            </a:r>
          </a:p>
          <a:p>
            <a:pPr>
              <a:defRPr sz="1800">
                <a:latin typeface="Calibri"/>
              </a:defRPr>
            </a:pPr>
            <a:r>
              <a:t>• Counterfactual fairness</a:t>
            </a:r>
          </a:p>
          <a:p>
            <a:pPr>
              <a:defRPr sz="1800">
                <a:latin typeface="Calibri"/>
              </a:defRPr>
            </a:pPr>
            <a:r>
              <a:t>• Intersectional fairness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OTHER:</a:t>
            </a:r>
          </a:p>
          <a:p>
            <a:pPr>
              <a:defRPr sz="1800">
                <a:latin typeface="Calibri"/>
              </a:defRPr>
            </a:pPr>
            <a:r>
              <a:t>• Model interpretability (SHAP, LIME)</a:t>
            </a:r>
          </a:p>
          <a:p>
            <a:pPr>
              <a:defRPr sz="1800">
                <a:latin typeface="Calibri"/>
              </a:defRPr>
            </a:pPr>
            <a:r>
              <a:t>• Prediction uncertainty</a:t>
            </a:r>
          </a:p>
          <a:p>
            <a:pPr>
              <a:defRPr sz="1800">
                <a:latin typeface="Calibri"/>
              </a:defRPr>
            </a:pPr>
            <a:r>
              <a:t>• Feature importance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Adult Income (UCI):</a:t>
            </a:r>
          </a:p>
          <a:p>
            <a:pPr>
              <a:defRPr sz="1800">
                <a:latin typeface="Calibri"/>
              </a:defRPr>
            </a:pPr>
            <a:r>
              <a:t>• Automatically downloaded from OpenML</a:t>
            </a:r>
          </a:p>
          <a:p>
            <a:pPr>
              <a:defRPr sz="1800">
                <a:latin typeface="Calibri"/>
              </a:defRPr>
            </a:pPr>
            <a:r>
              <a:t>• Used for initial model training</a:t>
            </a:r>
          </a:p>
          <a:p>
            <a:pPr>
              <a:defRPr sz="1800">
                <a:latin typeface="Calibri"/>
              </a:defRPr>
            </a:pPr>
            <a:r>
              <a:t>• Binary classification: income &gt;50K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COMPAS:</a:t>
            </a:r>
          </a:p>
          <a:p>
            <a:pPr>
              <a:defRPr sz="1800">
                <a:latin typeface="Calibri"/>
              </a:defRPr>
            </a:pPr>
            <a:r>
              <a:t>• Recidivism prediction dataset</a:t>
            </a:r>
          </a:p>
          <a:p>
            <a:pPr>
              <a:defRPr sz="1800">
                <a:latin typeface="Calibri"/>
              </a:defRPr>
            </a:pPr>
            <a:r>
              <a:t>• Downloaded from ProPublica repository</a:t>
            </a:r>
          </a:p>
          <a:p>
            <a:pPr>
              <a:defRPr sz="1800">
                <a:latin typeface="Calibri"/>
              </a:defRPr>
            </a:pPr>
            <a:r>
              <a:t>• Used for fairness analysis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Synthetic Data:</a:t>
            </a:r>
          </a:p>
          <a:p>
            <a:pPr>
              <a:defRPr sz="1800">
                <a:latin typeface="Calibri"/>
              </a:defRPr>
            </a:pPr>
            <a:r>
              <a:t>• Generated on-the-fly for testing</a:t>
            </a:r>
          </a:p>
          <a:p>
            <a:pPr>
              <a:defRPr sz="1800">
                <a:latin typeface="Calibri"/>
              </a:defRPr>
            </a:pPr>
            <a:r>
              <a:t>• Configurable demographics</a:t>
            </a:r>
          </a:p>
          <a:p>
            <a:pPr>
              <a:defRPr sz="1800">
                <a:latin typeface="Calibri"/>
              </a:defRPr>
            </a:pPr>
            <a:r>
              <a:t>• Used for drift simulation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Implementation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✓ Data loading and preprocessing pipeline</a:t>
            </a:r>
          </a:p>
          <a:p>
            <a:pPr>
              <a:defRPr sz="1800">
                <a:latin typeface="Calibri"/>
              </a:defRPr>
            </a:pPr>
            <a:r>
              <a:t>✓ Model training and evaluation</a:t>
            </a:r>
          </a:p>
          <a:p>
            <a:pPr>
              <a:defRPr sz="1800">
                <a:latin typeface="Calibri"/>
              </a:defRPr>
            </a:pPr>
            <a:r>
              <a:t>✓ Performance monitoring module</a:t>
            </a:r>
          </a:p>
          <a:p>
            <a:pPr>
              <a:defRPr sz="1800">
                <a:latin typeface="Calibri"/>
              </a:defRPr>
            </a:pPr>
            <a:r>
              <a:t>✓ Drift detection module</a:t>
            </a:r>
          </a:p>
          <a:p>
            <a:pPr>
              <a:defRPr sz="1800">
                <a:latin typeface="Calibri"/>
              </a:defRPr>
            </a:pPr>
            <a:r>
              <a:t>✓ Fairness monitoring module</a:t>
            </a:r>
          </a:p>
          <a:p>
            <a:pPr>
              <a:defRPr sz="1800">
                <a:latin typeface="Calibri"/>
              </a:defRPr>
            </a:pPr>
            <a:r>
              <a:t>✓ Alert system with real-time notifications</a:t>
            </a:r>
          </a:p>
          <a:p>
            <a:pPr>
              <a:defRPr sz="1800">
                <a:latin typeface="Calibri"/>
              </a:defRPr>
            </a:pPr>
            <a:r>
              <a:t>✓ Streamlit dashboard with multiple pages</a:t>
            </a:r>
          </a:p>
          <a:p>
            <a:pPr>
              <a:defRPr sz="1800">
                <a:latin typeface="Calibri"/>
              </a:defRPr>
            </a:pPr>
            <a:r>
              <a:t>✓ Visualization components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In Progress:</a:t>
            </a:r>
          </a:p>
          <a:p>
            <a:pPr>
              <a:defRPr sz="1800">
                <a:latin typeface="Calibri"/>
              </a:defRPr>
            </a:pPr>
            <a:r>
              <a:t>• Enhanced visual design (white/blue theme)</a:t>
            </a:r>
          </a:p>
          <a:p>
            <a:pPr>
              <a:defRPr sz="1800">
                <a:latin typeface="Calibri"/>
              </a:defRPr>
            </a:pPr>
            <a:r>
              <a:t>• Native-style navigation</a:t>
            </a:r>
          </a:p>
          <a:p>
            <a:pPr>
              <a:defRPr sz="1800">
                <a:latin typeface="Calibri"/>
              </a:defRPr>
            </a:pPr>
            <a:r>
              <a:t>• Additional metrics implementation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1. Complete visual design updates</a:t>
            </a:r>
          </a:p>
          <a:p>
            <a:pPr>
              <a:defRPr sz="1800">
                <a:latin typeface="Calibri"/>
              </a:defRPr>
            </a:pPr>
            <a:r>
              <a:t>2. Add remaining planned metrics</a:t>
            </a:r>
          </a:p>
          <a:p>
            <a:pPr>
              <a:defRPr sz="1800">
                <a:latin typeface="Calibri"/>
              </a:defRPr>
            </a:pPr>
            <a:r>
              <a:t>3. Conduct experiments on all datasets</a:t>
            </a:r>
          </a:p>
          <a:p>
            <a:pPr>
              <a:defRPr sz="1800">
                <a:latin typeface="Calibri"/>
              </a:defRPr>
            </a:pPr>
            <a:r>
              <a:t>4. Document experiment results</a:t>
            </a:r>
          </a:p>
          <a:p>
            <a:pPr>
              <a:defRPr sz="1800">
                <a:latin typeface="Calibri"/>
              </a:defRPr>
            </a:pPr>
            <a:r>
              <a:t>5. Analyze findings and insights</a:t>
            </a:r>
          </a:p>
          <a:p>
            <a:pPr>
              <a:defRPr sz="1800">
                <a:latin typeface="Calibri"/>
              </a:defRPr>
            </a:pPr>
            <a:r>
              <a:t>6. Prepare final thesis document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Timeline:</a:t>
            </a:r>
          </a:p>
          <a:p>
            <a:pPr>
              <a:defRPr sz="1800">
                <a:latin typeface="Calibri"/>
              </a:defRPr>
            </a:pPr>
            <a:r>
              <a:t>• November: Complete MVP implementation</a:t>
            </a:r>
          </a:p>
          <a:p>
            <a:pPr>
              <a:defRPr sz="1800">
                <a:latin typeface="Calibri"/>
              </a:defRPr>
            </a:pPr>
            <a:r>
              <a:t>• December: Experiments and analysis</a:t>
            </a:r>
          </a:p>
          <a:p>
            <a:pPr>
              <a:defRPr sz="1800">
                <a:latin typeface="Calibri"/>
              </a:defRPr>
            </a:pPr>
            <a:r>
              <a:t>• January: Final documentation and defense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