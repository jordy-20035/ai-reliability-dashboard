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6" r:id="rId2"/>
    <p:sldId id="267" r:id="rId3"/>
    <p:sldId id="268" r:id="rId4"/>
    <p:sldId id="269" r:id="rId5"/>
    <p:sldId id="270" r:id="rId6"/>
    <p:sldId id="273" r:id="rId7"/>
    <p:sldId id="274" r:id="rId8"/>
  </p:sldIdLst>
  <p:sldSz cx="11430000" cy="8197850"/>
  <p:notesSz cx="9926638" cy="6669088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ADA"/>
    <a:srgbClr val="0CA0A4"/>
    <a:srgbClr val="0E5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793" autoAdjust="0"/>
  </p:normalViewPr>
  <p:slideViewPr>
    <p:cSldViewPr>
      <p:cViewPr varScale="1">
        <p:scale>
          <a:sx n="55" d="100"/>
          <a:sy n="55" d="100"/>
        </p:scale>
        <p:origin x="284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091666637926299"/>
          <c:y val="2.4394666183968385E-2"/>
          <c:w val="0.65908333362073701"/>
          <c:h val="0.835469122394183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Baseline (D1 only)</c:v>
                </c:pt>
              </c:strCache>
            </c:strRef>
          </c:tx>
          <c:spPr>
            <a:solidFill>
              <a:srgbClr val="325AD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2"/>
                <c:pt idx="0">
                  <c:v>PR-AUC (D3)</c:v>
                </c:pt>
                <c:pt idx="1">
                  <c:v>Recall (D3)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0.60899999999999999</c:v>
                </c:pt>
                <c:pt idx="1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67-4009-B885-BABAAE40FBED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Adapted (D1+D2)</c:v>
                </c:pt>
              </c:strCache>
            </c:strRef>
          </c:tx>
          <c:spPr>
            <a:solidFill>
              <a:srgbClr val="0CA0A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2"/>
                <c:pt idx="0">
                  <c:v>PR-AUC (D3)</c:v>
                </c:pt>
                <c:pt idx="1">
                  <c:v>Recall (D3)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0.746</c:v>
                </c:pt>
                <c:pt idx="1">
                  <c:v>0.877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67-4009-B885-BABAAE40FBED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Colonne2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2"/>
                <c:pt idx="0">
                  <c:v>PR-AUC (D3)</c:v>
                </c:pt>
                <c:pt idx="1">
                  <c:v>Recall (D3)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1467-4009-B885-BABAAE40FB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0377471"/>
        <c:axId val="1600383295"/>
      </c:barChart>
      <c:catAx>
        <c:axId val="16003774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83295"/>
        <c:crosses val="autoZero"/>
        <c:auto val="1"/>
        <c:lblAlgn val="ctr"/>
        <c:lblOffset val="100"/>
        <c:noMultiLvlLbl val="0"/>
      </c:catAx>
      <c:valAx>
        <c:axId val="160038329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77471"/>
        <c:crosses val="autoZero"/>
        <c:crossBetween val="between"/>
      </c:valAx>
      <c:spPr>
        <a:noFill/>
        <a:ln>
          <a:noFill/>
        </a:ln>
        <a:effectLst>
          <a:softEdge rad="31750"/>
        </a:effectLst>
      </c:spPr>
    </c:plotArea>
    <c:legend>
      <c:legendPos val="t"/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4488"/>
          </a:xfrm>
          <a:prstGeom prst="rect">
            <a:avLst/>
          </a:prstGeom>
        </p:spPr>
        <p:txBody>
          <a:bodyPr vert="horz" lIns="77313" tIns="38656" rIns="77313" bIns="38656" rtlCol="0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338" y="0"/>
            <a:ext cx="4301543" cy="334488"/>
          </a:xfrm>
          <a:prstGeom prst="rect">
            <a:avLst/>
          </a:prstGeom>
        </p:spPr>
        <p:txBody>
          <a:bodyPr vert="horz" lIns="77313" tIns="38656" rIns="77313" bIns="38656" rtlCol="0"/>
          <a:lstStyle>
            <a:lvl1pPr algn="r">
              <a:defRPr sz="1000"/>
            </a:lvl1pPr>
          </a:lstStyle>
          <a:p>
            <a:fld id="{B6C6225E-AA8D-48FB-81CA-6C92AA4AFBEC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395663" y="835025"/>
            <a:ext cx="3135312" cy="224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7313" tIns="38656" rIns="77313" bIns="38656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664" y="3209273"/>
            <a:ext cx="7941310" cy="2626825"/>
          </a:xfrm>
          <a:prstGeom prst="rect">
            <a:avLst/>
          </a:prstGeom>
        </p:spPr>
        <p:txBody>
          <a:bodyPr vert="horz" lIns="77313" tIns="38656" rIns="77313" bIns="38656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334601"/>
            <a:ext cx="4301543" cy="334487"/>
          </a:xfrm>
          <a:prstGeom prst="rect">
            <a:avLst/>
          </a:prstGeom>
        </p:spPr>
        <p:txBody>
          <a:bodyPr vert="horz" lIns="77313" tIns="38656" rIns="77313" bIns="38656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338" y="6334601"/>
            <a:ext cx="4301543" cy="334487"/>
          </a:xfrm>
          <a:prstGeom prst="rect">
            <a:avLst/>
          </a:prstGeom>
        </p:spPr>
        <p:txBody>
          <a:bodyPr vert="horz" lIns="77313" tIns="38656" rIns="77313" bIns="38656" rtlCol="0" anchor="b"/>
          <a:lstStyle>
            <a:lvl1pPr algn="r">
              <a:defRPr sz="1000"/>
            </a:lvl1pPr>
          </a:lstStyle>
          <a:p>
            <a:fld id="{2D829B0E-DFF1-4202-8008-B97C06E7670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2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"Уважаемая комиссия, коллеги, всем здравствуйте. Сейчас представлю свой проект под названием...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мы рассматриваем как обнаруживать деградацию модели через data drift и восстанавливать качество через адаптивное переобучение. Но фокус — не только обнаружение дрифта, а полный замкнутый цикл: зафиксировать сдвиг данных, принять решение по правилам, при необходимости переобучить модель, зафиксировать версию в lifecycle и показать реальный inference по production-модели.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воспроизводим это на двух кейсах.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— Adult Income: содержит числовые и категориальные фичи, что позволяет проверить детекцию дрифта сразу двумя статистическими методами — KS-тест и хи-квадрат.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— Credit Card Fraud: полностью числовой, упорядочен по времени, что позволяет моделировать реальный темпоральный дрифт через окна D1, D2, D3. Два датасета, а не один — чтобы показать, что система работает на разных структурах данных и разных типах дрифта, а не привязана к одному домену."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29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dirty="0" smtClean="0"/>
              <a:t>В продакшене модель деградирует из-за изменения данных, а не алгоритма. Это data drift. Опасность в том, что система продолжает выдавать ответы, но они становятся менее надёжными</a:t>
            </a:r>
            <a:r>
              <a:rPr lang="fr-FR" dirty="0" smtClean="0"/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то есть точность и recall падают</a:t>
            </a:r>
            <a:r>
              <a:rPr lang="ru-RU" dirty="0" smtClean="0"/>
              <a:t>. Мы хотели продемонстрировать, что отдельный отчёт о дрифте решает лишь часть задачи — нужны автоматизация реакции, учёт версий и прозрачная история решений. Поэтому мы предложили объединённый MLOps-контур с двумя демо</a:t>
            </a:r>
            <a:r>
              <a:rPr lang="fr-FR" baseline="0" dirty="0" smtClean="0"/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кейса</a:t>
            </a:r>
            <a:r>
              <a:rPr lang="ru-RU" dirty="0" smtClean="0"/>
              <a:t> для обобщённости подхода.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0346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dirty="0" smtClean="0"/>
              <a:t>Мы провели эксперименты на Credit Card Fraud — это набор данных, содержащий более двухсот тысяч транзакций. Мы разбили его по колонке Time на три окна: D1 (ранние), D2 (средние), D3 (поздние). При сравнении D1 с D2 получили 2 фичи с высоким PSI (&gt; 0.2) и все 29 фичей статистически значимы по KS-тесту — что подтверждает заметный естественный дрифт. Средний PSI = 0.051, что в целом указывает на умеренный, но повсеместный сдвиг.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Экспортированные D1.csv, D2.csv, D3.csv используются как входные данные в платформе. Но прежде чем перейти к платформе, посмотрим, что даёт этот дрифт на уровне качества модели.</a:t>
            </a:r>
            <a:endParaRPr lang="ru-RU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043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измерить влияние дрифта, мы обучили модель только на D1 и оценили её на D2 и D3. На D3 — самом дальнем окне — PR-AUC падает до 0.609. После адаптивного переобучения на D1+D2 и оценки на том же D3, PR-AUC повышается до 0.746 — прирост +0.137. ROC-AUC улучшается с 0.949 до 0.978, recall с 0.820 до 0.877. Это ключевое доказательство: включение среднего окна в обучение восстанавливает качество на будущих данных</a:t>
            </a:r>
            <a:endParaRPr lang="ru-RU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91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По Adult Income: этот датасет встроен непосредственно в код платформы. Платформа загружает Adult CSV, строит baseline-профиль на reference-срезе, и при каждом drift check сравнивает текущий срез с baseline по трём метрикам: PSI для всех фичей, KS-тест для числовых (age, hours.per.week и т.д.) и хи-квадрат для категориальных (workclass, education, семейное положение и т.д.). Сценарий random_holdout — это контрольный случай, где reference и current из одной популяции, поэтому дрифт минимален и policy срабатывает редко. Сценарий age_shift намеренно фильтрует current по age &gt;= 40, что создаёт сильный сдвиг распределений — policy срабатывает стабильно. Эта разница подтверждает, что пороги настроены корректно: система молчит когда данные стабильны и реагирует когда сдвиг реален."</a:t>
            </a:r>
            <a:endParaRPr lang="ru-RU" dirty="0" smtClean="0"/>
          </a:p>
          <a:p>
            <a:pPr rtl="0"/>
            <a:endParaRPr lang="fr-FR" dirty="0" smtClean="0"/>
          </a:p>
          <a:p>
            <a:pPr rtl="0"/>
            <a:endParaRPr lang="fr-FR" dirty="0" smtClean="0"/>
          </a:p>
          <a:p>
            <a:pPr rtl="0"/>
            <a:r>
              <a:rPr lang="ru-RU" dirty="0" smtClean="0"/>
              <a:t>На </a:t>
            </a:r>
            <a:r>
              <a:rPr lang="en-GB" dirty="0" smtClean="0"/>
              <a:t>Overview </a:t>
            </a:r>
            <a:r>
              <a:rPr lang="ru-RU" dirty="0" smtClean="0"/>
              <a:t>выбираем </a:t>
            </a:r>
            <a:r>
              <a:rPr lang="en-GB" dirty="0" smtClean="0"/>
              <a:t>fraud_d1_vs_d2 — </a:t>
            </a:r>
            <a:r>
              <a:rPr lang="ru-RU" dirty="0" smtClean="0"/>
              <a:t>видим </a:t>
            </a:r>
            <a:r>
              <a:rPr lang="en-GB" dirty="0" smtClean="0"/>
              <a:t>drift signal counts (High PSI, KS significant). </a:t>
            </a:r>
          </a:p>
          <a:p>
            <a:pPr rtl="0"/>
            <a:r>
              <a:rPr lang="ru-RU" dirty="0" smtClean="0"/>
              <a:t>На </a:t>
            </a:r>
            <a:r>
              <a:rPr lang="en-GB" dirty="0" smtClean="0"/>
              <a:t>Workflows — </a:t>
            </a:r>
            <a:r>
              <a:rPr lang="ru-RU" dirty="0" smtClean="0"/>
              <a:t>тот же </a:t>
            </a:r>
            <a:r>
              <a:rPr lang="en-GB" dirty="0" smtClean="0"/>
              <a:t>run </a:t>
            </a:r>
            <a:r>
              <a:rPr lang="ru-RU" dirty="0" smtClean="0"/>
              <a:t>уже в таблице с объяснением </a:t>
            </a:r>
            <a:r>
              <a:rPr lang="en-GB" dirty="0" smtClean="0"/>
              <a:t>trigger reasons. </a:t>
            </a:r>
          </a:p>
          <a:p>
            <a:pPr rtl="0"/>
            <a:r>
              <a:rPr lang="ru-RU" dirty="0" smtClean="0"/>
              <a:t>На </a:t>
            </a:r>
            <a:r>
              <a:rPr lang="en-GB" dirty="0" smtClean="0"/>
              <a:t>Models — </a:t>
            </a:r>
            <a:r>
              <a:rPr lang="ru-RU" dirty="0" smtClean="0"/>
              <a:t>видно как после </a:t>
            </a:r>
            <a:r>
              <a:rPr lang="en-GB" dirty="0" smtClean="0"/>
              <a:t>drift trigger </a:t>
            </a:r>
            <a:r>
              <a:rPr lang="ru-RU" dirty="0" smtClean="0"/>
              <a:t>или ручного </a:t>
            </a:r>
            <a:r>
              <a:rPr lang="en-GB" dirty="0" smtClean="0"/>
              <a:t>Trigger Retraining </a:t>
            </a:r>
            <a:r>
              <a:rPr lang="ru-RU" dirty="0" smtClean="0"/>
              <a:t>появляется новая версия; мы выбираем её </a:t>
            </a:r>
            <a:r>
              <a:rPr lang="en-GB" dirty="0" smtClean="0"/>
              <a:t>Row ID </a:t>
            </a:r>
            <a:r>
              <a:rPr lang="ru-RU" dirty="0" smtClean="0"/>
              <a:t>и ставим </a:t>
            </a:r>
            <a:r>
              <a:rPr lang="en-GB" dirty="0" smtClean="0"/>
              <a:t>stage = production. </a:t>
            </a:r>
          </a:p>
          <a:p>
            <a:pPr rtl="0"/>
            <a:r>
              <a:rPr lang="ru-RU" dirty="0" smtClean="0"/>
              <a:t>Пока новая модель не побьёт </a:t>
            </a:r>
            <a:r>
              <a:rPr lang="en-GB" dirty="0" smtClean="0"/>
              <a:t>champion </a:t>
            </a:r>
            <a:r>
              <a:rPr lang="ru-RU" dirty="0" smtClean="0"/>
              <a:t>по </a:t>
            </a:r>
            <a:r>
              <a:rPr lang="en-GB" dirty="0" smtClean="0"/>
              <a:t>f1_macro, production pointer </a:t>
            </a:r>
            <a:r>
              <a:rPr lang="ru-RU" dirty="0" smtClean="0"/>
              <a:t>не двигается автоматически — это осознанный </a:t>
            </a:r>
            <a:r>
              <a:rPr lang="en-GB" dirty="0" smtClean="0"/>
              <a:t>design choice </a:t>
            </a:r>
            <a:r>
              <a:rPr lang="ru-RU" dirty="0" smtClean="0"/>
              <a:t>для </a:t>
            </a:r>
            <a:r>
              <a:rPr lang="en-GB" dirty="0" smtClean="0"/>
              <a:t>governance. </a:t>
            </a:r>
          </a:p>
          <a:p>
            <a:pPr rtl="0"/>
            <a:r>
              <a:rPr lang="ru-RU" dirty="0" smtClean="0"/>
              <a:t>На </a:t>
            </a:r>
            <a:r>
              <a:rPr lang="en-GB" dirty="0" smtClean="0"/>
              <a:t>Inference </a:t>
            </a:r>
            <a:r>
              <a:rPr lang="ru-RU" dirty="0" smtClean="0"/>
              <a:t>переключаем профиль на </a:t>
            </a:r>
            <a:r>
              <a:rPr lang="en-GB" dirty="0" smtClean="0"/>
              <a:t>fraud, </a:t>
            </a:r>
            <a:r>
              <a:rPr lang="ru-RU" dirty="0" smtClean="0"/>
              <a:t>подаём </a:t>
            </a:r>
            <a:r>
              <a:rPr lang="en-GB" dirty="0" smtClean="0"/>
              <a:t>V1–V28 + Amount </a:t>
            </a:r>
            <a:r>
              <a:rPr lang="ru-RU" dirty="0" smtClean="0"/>
              <a:t>и получаем </a:t>
            </a:r>
            <a:r>
              <a:rPr lang="en-GB" dirty="0" smtClean="0"/>
              <a:t>fraud/legit + probability. </a:t>
            </a:r>
            <a:r>
              <a:rPr lang="ru-RU" dirty="0" smtClean="0"/>
              <a:t>Так демонстрируется полный замкнутый цикл.</a:t>
            </a:r>
            <a:endParaRPr lang="fr-FR" dirty="0" smtClean="0"/>
          </a:p>
          <a:p>
            <a:pPr rtl="0"/>
            <a:endParaRPr lang="fr-FR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На странице Data — два компонента: Dataset Versions фиксирует каждый загруженный файл с хешем и числом строк, а Training Provenance связывает каждую обученную модель с конкретной версией данных</a:t>
            </a:r>
            <a:r>
              <a:rPr lang="fr-FR" baseline="0" dirty="0" smtClean="0"/>
              <a:t> and</a:t>
            </a:r>
            <a:r>
              <a:rPr lang="ru-RU" dirty="0" smtClean="0"/>
              <a:t> baseline-снапшотом. 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197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dirty="0" smtClean="0"/>
              <a:t>Итог нашей работы — Прототип демонстрирует полный замкнутый цикл: дрифт → переобучение → версионирование → inference. Основное ограничение — фиксированные пороги дрифта: в production нужны адаптивные пороги, учитывающие историю сдвигов и сезонность. Направления развития — расширение на другие типы дрифта (concept drift, label drift) и интеграция с промышленным serving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052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ru-RU" dirty="0" smtClean="0"/>
              <a:t>Мы считаем, что предлагаем решение проблемы надёжности в развернутых системах машинного обучения: после внедрения модели могут “дрейфовать” и ухудшать качество, поэтому командам нужен способ обнаруживать такие изменения, понимать, когда они критичны, и реагировать на них контролируемо. Существующие инструменты очень сильны, но обычно разрознены: мониторинг — в одном месте, реестр моделей — в другом, оркестрация — в третьем. Наш вклад — единая минималистичная платформа, которая демонстрирует полный жизненный цикл end-to-end: мониторинг дрейфа с порогами и политиками, историю запусков, автоматическое переобучение, версионирование моделей, продвижение по стадиям и инференс, с трассируемостью того, что было выполнено и почему. </a:t>
            </a:r>
            <a:r>
              <a:rPr lang="ru-RU" smtClean="0"/>
              <a:t>Это не попытка заменить корпоративные MLOps-стэки; это цельная референсная реализация, которая делает архитектурные решения и логику интеграции явными и воспроизводимыми.</a:t>
            </a:r>
            <a:endParaRPr lang="ru-RU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29B0E-DFF1-4202-8008-B97C06E7670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53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1C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E2F62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91C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E2F62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91C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91C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6889" y="322085"/>
            <a:ext cx="7860030" cy="1113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1C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30824" y="1515441"/>
            <a:ext cx="4822825" cy="4310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E2F62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76399" y="2400118"/>
            <a:ext cx="8276897" cy="1969770"/>
          </a:xfrm>
        </p:spPr>
        <p:txBody>
          <a:bodyPr anchor="ctr"/>
          <a:lstStyle/>
          <a:p>
            <a:pPr algn="ctr"/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Автоматизированная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операций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машинного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детектирования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дрифта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адаптивного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переобучения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81496" y="5775325"/>
            <a:ext cx="297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тудент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fr-F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</a:t>
            </a:r>
            <a:r>
              <a:rPr lang="fr-F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Джордана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МПрИ-201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57348" y="441325"/>
            <a:ext cx="5715000" cy="5533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Челябинский государственный университет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3000" y="853103"/>
            <a:ext cx="8276897" cy="430887"/>
          </a:xfrm>
        </p:spPr>
        <p:txBody>
          <a:bodyPr anchor="ctr"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data drift и риски в продакшене</a:t>
            </a:r>
          </a:p>
        </p:txBody>
      </p:sp>
      <p:sp>
        <p:nvSpPr>
          <p:cNvPr id="10" name="Ellipse 9"/>
          <p:cNvSpPr/>
          <p:nvPr/>
        </p:nvSpPr>
        <p:spPr>
          <a:xfrm>
            <a:off x="1752600" y="2126302"/>
            <a:ext cx="304800" cy="269557"/>
          </a:xfrm>
          <a:prstGeom prst="ellipse">
            <a:avLst/>
          </a:prstGeom>
          <a:solidFill>
            <a:srgbClr val="325A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1</a:t>
            </a:r>
            <a:endParaRPr lang="en-GB" sz="1400" dirty="0"/>
          </a:p>
        </p:txBody>
      </p:sp>
      <p:sp>
        <p:nvSpPr>
          <p:cNvPr id="11" name="Ellipse 10"/>
          <p:cNvSpPr/>
          <p:nvPr/>
        </p:nvSpPr>
        <p:spPr>
          <a:xfrm>
            <a:off x="1752600" y="3444089"/>
            <a:ext cx="304800" cy="26955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2</a:t>
            </a:r>
            <a:endParaRPr lang="en-GB" sz="1400" dirty="0"/>
          </a:p>
        </p:txBody>
      </p:sp>
      <p:sp>
        <p:nvSpPr>
          <p:cNvPr id="12" name="Ellipse 11"/>
          <p:cNvSpPr/>
          <p:nvPr/>
        </p:nvSpPr>
        <p:spPr>
          <a:xfrm>
            <a:off x="1752600" y="4761876"/>
            <a:ext cx="304800" cy="269557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3</a:t>
            </a:r>
            <a:endParaRPr lang="en-GB" sz="1400" dirty="0"/>
          </a:p>
        </p:txBody>
      </p:sp>
      <p:sp>
        <p:nvSpPr>
          <p:cNvPr id="13" name="Ellipse 12"/>
          <p:cNvSpPr/>
          <p:nvPr/>
        </p:nvSpPr>
        <p:spPr>
          <a:xfrm>
            <a:off x="1752600" y="6079663"/>
            <a:ext cx="304800" cy="269557"/>
          </a:xfrm>
          <a:prstGeom prst="ellipse">
            <a:avLst/>
          </a:prstGeom>
          <a:solidFill>
            <a:srgbClr val="0CA0A4"/>
          </a:solidFill>
          <a:ln>
            <a:solidFill>
              <a:srgbClr val="0CA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4</a:t>
            </a:r>
            <a:endParaRPr lang="en-GB" sz="1400" dirty="0"/>
          </a:p>
        </p:txBody>
      </p:sp>
      <p:sp>
        <p:nvSpPr>
          <p:cNvPr id="14" name="ZoneTexte 13"/>
          <p:cNvSpPr txBox="1"/>
          <p:nvPr/>
        </p:nvSpPr>
        <p:spPr>
          <a:xfrm>
            <a:off x="2362200" y="1990309"/>
            <a:ext cx="6705600" cy="923330"/>
          </a:xfrm>
          <a:prstGeom prst="rect">
            <a:avLst/>
          </a:prstGeom>
          <a:solidFill>
            <a:schemeClr val="bg1"/>
          </a:solidFill>
          <a:ln>
            <a:solidFill>
              <a:srgbClr val="325AD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drift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Сдвиг распределений входных данных относительно распределений при обучении.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362200" y="3251981"/>
            <a:ext cx="6705600" cy="646331"/>
          </a:xfrm>
          <a:prstGeom prst="rect">
            <a:avLst/>
          </a:prstGeom>
          <a:solidFill>
            <a:schemeClr val="bg1"/>
          </a:solidFill>
          <a:ln>
            <a:solidFill>
              <a:srgbClr val="325AD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Скрытый риск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качества «тихо», без явных ошибок в коде сервиса.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362200" y="4513653"/>
            <a:ext cx="6705600" cy="923330"/>
          </a:xfrm>
          <a:prstGeom prst="rect">
            <a:avLst/>
          </a:prstGeom>
          <a:solidFill>
            <a:schemeClr val="bg1"/>
          </a:solidFill>
          <a:ln>
            <a:solidFill>
              <a:srgbClr val="325AD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Недостаточность детекторов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Нужен аудит, переобучение, версионирование и деплой, а не просто алерт.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2362200" y="5775325"/>
            <a:ext cx="6705600" cy="923330"/>
          </a:xfrm>
          <a:prstGeom prst="rect">
            <a:avLst/>
          </a:prstGeom>
          <a:solidFill>
            <a:schemeClr val="bg1"/>
          </a:solidFill>
          <a:ln>
            <a:solidFill>
              <a:srgbClr val="325AD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0CA0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платформа вместо набора разрозненных MLOps-инструментов.</a:t>
            </a:r>
          </a:p>
        </p:txBody>
      </p:sp>
      <p:cxnSp>
        <p:nvCxnSpPr>
          <p:cNvPr id="19" name="Connecteur droit 18"/>
          <p:cNvCxnSpPr>
            <a:stCxn id="10" idx="4"/>
            <a:endCxn id="11" idx="0"/>
          </p:cNvCxnSpPr>
          <p:nvPr/>
        </p:nvCxnSpPr>
        <p:spPr>
          <a:xfrm>
            <a:off x="1905000" y="2395859"/>
            <a:ext cx="0" cy="1048230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1905000" y="3713646"/>
            <a:ext cx="0" cy="1048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1905000" y="5031433"/>
            <a:ext cx="0" cy="104823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1143000" y="1355725"/>
            <a:ext cx="1600200" cy="0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1905000" y="6349220"/>
            <a:ext cx="0" cy="349435"/>
          </a:xfrm>
          <a:prstGeom prst="line">
            <a:avLst/>
          </a:prstGeom>
          <a:ln w="38100">
            <a:solidFill>
              <a:srgbClr val="0CA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02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cteur droit 31"/>
          <p:cNvCxnSpPr>
            <a:stCxn id="14" idx="6"/>
          </p:cNvCxnSpPr>
          <p:nvPr/>
        </p:nvCxnSpPr>
        <p:spPr>
          <a:xfrm flipV="1">
            <a:off x="8092799" y="3665755"/>
            <a:ext cx="1327098" cy="3178"/>
          </a:xfrm>
          <a:prstGeom prst="line">
            <a:avLst/>
          </a:prstGeom>
          <a:ln w="38100">
            <a:solidFill>
              <a:srgbClr val="0CA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3000" y="637660"/>
            <a:ext cx="8276897" cy="861774"/>
          </a:xfrm>
        </p:spPr>
        <p:txBody>
          <a:bodyPr anchor="ctr"/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Эксперименты: Credit Card Fraud (темпоральные разбиения)</a:t>
            </a:r>
          </a:p>
        </p:txBody>
      </p:sp>
      <p:cxnSp>
        <p:nvCxnSpPr>
          <p:cNvPr id="10" name="Connecteur droit 9"/>
          <p:cNvCxnSpPr>
            <a:stCxn id="16" idx="6"/>
            <a:endCxn id="15" idx="2"/>
          </p:cNvCxnSpPr>
          <p:nvPr/>
        </p:nvCxnSpPr>
        <p:spPr>
          <a:xfrm>
            <a:off x="2685997" y="3665755"/>
            <a:ext cx="2481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>
            <a:endCxn id="14" idx="2"/>
          </p:cNvCxnSpPr>
          <p:nvPr/>
        </p:nvCxnSpPr>
        <p:spPr>
          <a:xfrm>
            <a:off x="5387493" y="3665755"/>
            <a:ext cx="2476706" cy="317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rganigramme : Connecteur 13"/>
          <p:cNvSpPr/>
          <p:nvPr/>
        </p:nvSpPr>
        <p:spPr>
          <a:xfrm>
            <a:off x="7864199" y="3554631"/>
            <a:ext cx="228600" cy="228603"/>
          </a:xfrm>
          <a:prstGeom prst="flowChartConnector">
            <a:avLst/>
          </a:prstGeom>
          <a:solidFill>
            <a:srgbClr val="0CA0A4"/>
          </a:solidFill>
          <a:ln>
            <a:solidFill>
              <a:srgbClr val="0CA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rganigramme : Connecteur 14"/>
          <p:cNvSpPr/>
          <p:nvPr/>
        </p:nvSpPr>
        <p:spPr>
          <a:xfrm>
            <a:off x="5167148" y="3551453"/>
            <a:ext cx="228600" cy="228603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rganigramme : Connecteur 15"/>
          <p:cNvSpPr/>
          <p:nvPr/>
        </p:nvSpPr>
        <p:spPr>
          <a:xfrm>
            <a:off x="2457397" y="3551453"/>
            <a:ext cx="228600" cy="228603"/>
          </a:xfrm>
          <a:prstGeom prst="flowChartConnector">
            <a:avLst/>
          </a:prstGeom>
          <a:solidFill>
            <a:srgbClr val="325ADA"/>
          </a:solidFill>
          <a:ln>
            <a:solidFill>
              <a:srgbClr val="325A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ZoneTexte 19"/>
          <p:cNvSpPr txBox="1"/>
          <p:nvPr/>
        </p:nvSpPr>
        <p:spPr>
          <a:xfrm>
            <a:off x="1657297" y="1965325"/>
            <a:ext cx="2057400" cy="923330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</a:t>
            </a:r>
            <a:r>
              <a:rPr lang="en-GB" sz="1800" b="1" dirty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  <a:p>
            <a:pPr algn="ctr"/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94 935 записей</a:t>
            </a:r>
          </a:p>
          <a:p>
            <a:pPr algn="ctr"/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fraud: </a:t>
            </a:r>
            <a:r>
              <a:rPr lang="en-GB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217</a:t>
            </a: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252748" y="1965325"/>
            <a:ext cx="2057400" cy="923330"/>
          </a:xfrm>
          <a:prstGeom prst="rect">
            <a:avLst/>
          </a:prstGeom>
          <a:ln>
            <a:solidFill>
              <a:srgbClr val="0E5FA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</a:t>
            </a:r>
            <a:r>
              <a:rPr lang="en-GB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  <a:p>
            <a:pPr algn="ctr"/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94 936 записей</a:t>
            </a:r>
          </a:p>
          <a:p>
            <a:pPr algn="ctr"/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fraud: 153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949799" y="1965325"/>
            <a:ext cx="2057400" cy="923330"/>
          </a:xfrm>
          <a:prstGeom prst="rect">
            <a:avLst/>
          </a:prstGeom>
          <a:ln>
            <a:solidFill>
              <a:srgbClr val="0CA0A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0CA0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</a:t>
            </a:r>
            <a:r>
              <a:rPr lang="en-GB" sz="1800" b="1" dirty="0" smtClean="0">
                <a:solidFill>
                  <a:srgbClr val="0CA0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  <a:p>
            <a:pPr algn="ctr"/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94 936 записей</a:t>
            </a:r>
          </a:p>
          <a:p>
            <a:pPr algn="ctr"/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fraud: 122</a:t>
            </a:r>
          </a:p>
        </p:txBody>
      </p:sp>
      <p:cxnSp>
        <p:nvCxnSpPr>
          <p:cNvPr id="36" name="Connecteur droit 35"/>
          <p:cNvCxnSpPr>
            <a:endCxn id="16" idx="2"/>
          </p:cNvCxnSpPr>
          <p:nvPr/>
        </p:nvCxnSpPr>
        <p:spPr>
          <a:xfrm>
            <a:off x="1466797" y="3665754"/>
            <a:ext cx="990600" cy="1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 flipV="1">
            <a:off x="8092799" y="3665754"/>
            <a:ext cx="1327098" cy="3179"/>
          </a:xfrm>
          <a:prstGeom prst="line">
            <a:avLst/>
          </a:prstGeom>
          <a:ln w="38100">
            <a:solidFill>
              <a:srgbClr val="0CA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>
            <a:endCxn id="16" idx="0"/>
          </p:cNvCxnSpPr>
          <p:nvPr/>
        </p:nvCxnSpPr>
        <p:spPr>
          <a:xfrm>
            <a:off x="2560532" y="2888655"/>
            <a:ext cx="11165" cy="662798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>
            <a:endCxn id="15" idx="0"/>
          </p:cNvCxnSpPr>
          <p:nvPr/>
        </p:nvCxnSpPr>
        <p:spPr>
          <a:xfrm>
            <a:off x="5281448" y="2888655"/>
            <a:ext cx="0" cy="66279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>
            <a:endCxn id="14" idx="0"/>
          </p:cNvCxnSpPr>
          <p:nvPr/>
        </p:nvCxnSpPr>
        <p:spPr>
          <a:xfrm>
            <a:off x="7967334" y="2888655"/>
            <a:ext cx="11165" cy="665976"/>
          </a:xfrm>
          <a:prstGeom prst="line">
            <a:avLst/>
          </a:prstGeom>
          <a:ln w="38100">
            <a:solidFill>
              <a:srgbClr val="0CA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èche droite 53"/>
          <p:cNvSpPr/>
          <p:nvPr/>
        </p:nvSpPr>
        <p:spPr>
          <a:xfrm>
            <a:off x="2971800" y="4098924"/>
            <a:ext cx="1828800" cy="53340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Дрифт</a:t>
            </a:r>
            <a:endParaRPr lang="ru-RU" sz="12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Flèche droite 54"/>
          <p:cNvSpPr/>
          <p:nvPr/>
        </p:nvSpPr>
        <p:spPr>
          <a:xfrm>
            <a:off x="5867400" y="4098925"/>
            <a:ext cx="1828800" cy="53340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Эвал</a:t>
            </a:r>
            <a:r>
              <a:rPr lang="ru-RU" sz="1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8" name="ZoneTexte 57"/>
          <p:cNvSpPr txBox="1"/>
          <p:nvPr/>
        </p:nvSpPr>
        <p:spPr>
          <a:xfrm>
            <a:off x="942699" y="5394325"/>
            <a:ext cx="4368800" cy="1754326"/>
          </a:xfrm>
          <a:prstGeom prst="rect">
            <a:avLst/>
          </a:prstGeom>
          <a:ln>
            <a:solidFill>
              <a:srgbClr val="325AD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 дрифта (</a:t>
            </a: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 → D2</a:t>
            </a:r>
            <a:r>
              <a:rPr lang="en-GB" sz="1800" b="1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GB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2 признака с PSI &gt; 0.2</a:t>
            </a:r>
          </a:p>
          <a:p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29 из 29 признаков KS-значимы (p &lt; 0.05)</a:t>
            </a:r>
          </a:p>
          <a:p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средний </a:t>
            </a: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 = 0.051</a:t>
            </a:r>
          </a:p>
        </p:txBody>
      </p:sp>
      <p:sp>
        <p:nvSpPr>
          <p:cNvPr id="59" name="ZoneTexte 58"/>
          <p:cNvSpPr txBox="1"/>
          <p:nvPr/>
        </p:nvSpPr>
        <p:spPr>
          <a:xfrm>
            <a:off x="5692499" y="5394325"/>
            <a:ext cx="4800600" cy="1754326"/>
          </a:xfrm>
          <a:prstGeom prst="rect">
            <a:avLst/>
          </a:prstGeom>
          <a:ln>
            <a:solidFill>
              <a:srgbClr val="0CA0A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методы</a:t>
            </a:r>
          </a:p>
          <a:p>
            <a:endParaRPr lang="en-GB" sz="1800" dirty="0" smtClean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 (Population Stability Index, binned)</a:t>
            </a:r>
          </a:p>
          <a:p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KS (Kolmogorov-Smirnov two-sample test)</a:t>
            </a:r>
          </a:p>
          <a:p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Scaled Logistic Regression с balanced class weights</a:t>
            </a:r>
          </a:p>
        </p:txBody>
      </p:sp>
      <p:cxnSp>
        <p:nvCxnSpPr>
          <p:cNvPr id="60" name="Connecteur droit 59"/>
          <p:cNvCxnSpPr/>
          <p:nvPr/>
        </p:nvCxnSpPr>
        <p:spPr>
          <a:xfrm>
            <a:off x="942699" y="5383428"/>
            <a:ext cx="4368800" cy="10896"/>
          </a:xfrm>
          <a:prstGeom prst="line">
            <a:avLst/>
          </a:prstGeom>
          <a:ln w="57150">
            <a:solidFill>
              <a:srgbClr val="325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692499" y="5364810"/>
            <a:ext cx="4800600" cy="29514"/>
          </a:xfrm>
          <a:prstGeom prst="line">
            <a:avLst/>
          </a:prstGeom>
          <a:ln w="57150">
            <a:solidFill>
              <a:srgbClr val="0CA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9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3000" y="853103"/>
            <a:ext cx="8276897" cy="430887"/>
          </a:xfrm>
        </p:spPr>
        <p:txBody>
          <a:bodyPr anchor="ctr"/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адаптивного переобучения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1143000" y="1355725"/>
            <a:ext cx="1600200" cy="0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828275"/>
              </p:ext>
            </p:extLst>
          </p:nvPr>
        </p:nvGraphicFramePr>
        <p:xfrm>
          <a:off x="914400" y="2022787"/>
          <a:ext cx="5691350" cy="16459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38270">
                  <a:extLst>
                    <a:ext uri="{9D8B030D-6E8A-4147-A177-3AD203B41FA5}">
                      <a16:colId xmlns:a16="http://schemas.microsoft.com/office/drawing/2014/main" val="3465718419"/>
                    </a:ext>
                  </a:extLst>
                </a:gridCol>
                <a:gridCol w="1138270">
                  <a:extLst>
                    <a:ext uri="{9D8B030D-6E8A-4147-A177-3AD203B41FA5}">
                      <a16:colId xmlns:a16="http://schemas.microsoft.com/office/drawing/2014/main" val="2669695498"/>
                    </a:ext>
                  </a:extLst>
                </a:gridCol>
                <a:gridCol w="1138270">
                  <a:extLst>
                    <a:ext uri="{9D8B030D-6E8A-4147-A177-3AD203B41FA5}">
                      <a16:colId xmlns:a16="http://schemas.microsoft.com/office/drawing/2014/main" val="3095136149"/>
                    </a:ext>
                  </a:extLst>
                </a:gridCol>
                <a:gridCol w="1138270">
                  <a:extLst>
                    <a:ext uri="{9D8B030D-6E8A-4147-A177-3AD203B41FA5}">
                      <a16:colId xmlns:a16="http://schemas.microsoft.com/office/drawing/2014/main" val="1781263426"/>
                    </a:ext>
                  </a:extLst>
                </a:gridCol>
                <a:gridCol w="1138270">
                  <a:extLst>
                    <a:ext uri="{9D8B030D-6E8A-4147-A177-3AD203B41FA5}">
                      <a16:colId xmlns:a16="http://schemas.microsoft.com/office/drawing/2014/main" val="2315853695"/>
                    </a:ext>
                  </a:extLst>
                </a:gridCol>
              </a:tblGrid>
              <a:tr h="29008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Обучение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solidFill>
                            <a:srgbClr val="325AD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PR-AUC</a:t>
                      </a:r>
                      <a:endParaRPr lang="en-GB" sz="1400" dirty="0">
                        <a:solidFill>
                          <a:srgbClr val="325AD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43632"/>
                  </a:ext>
                </a:extLst>
              </a:tr>
              <a:tr h="29008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</a:t>
                      </a:r>
                      <a:r>
                        <a:rPr lang="fr-FR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0.884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325AD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0.668</a:t>
                      </a:r>
                      <a:endParaRPr lang="en-GB" sz="1400" dirty="0">
                        <a:solidFill>
                          <a:srgbClr val="325AD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0.784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20158"/>
                  </a:ext>
                </a:extLst>
              </a:tr>
              <a:tr h="5076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</a:t>
                      </a:r>
                      <a:r>
                        <a:rPr lang="fr-FR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0.949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0.609</a:t>
                      </a:r>
                      <a:endParaRPr lang="en-GB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53631"/>
                  </a:ext>
                </a:extLst>
              </a:tr>
              <a:tr h="5076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D1+D2 (</a:t>
                      </a:r>
                      <a:r>
                        <a:rPr lang="fr-FR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adapted</a:t>
                      </a:r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0.978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0.746</a:t>
                      </a:r>
                      <a:endParaRPr lang="en-GB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0.877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69058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14553" y="4045537"/>
            <a:ext cx="5943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результат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Переобучение на свежих данных (D2) увеличило PR-AUC на тестовом периоде D3 с 0.609 до </a:t>
            </a:r>
            <a:r>
              <a:rPr lang="ru-RU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0.746 (+0.137</a:t>
            </a:r>
            <a:r>
              <a:rPr lang="ru-RU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923925" y="5599427"/>
            <a:ext cx="5257800" cy="1477328"/>
          </a:xfrm>
          <a:prstGeom prst="rect">
            <a:avLst/>
          </a:prstGeom>
          <a:ln>
            <a:solidFill>
              <a:srgbClr val="0E5FA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Дополнительная валидация (</a:t>
            </a: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 dataset):</a:t>
            </a:r>
          </a:p>
          <a:p>
            <a:pPr algn="just"/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random_holdout даёт мало триггеров, тогда как age_shift — частые триггеры, что подтверждает адекватную чувствительность policy платформы.</a:t>
            </a:r>
          </a:p>
        </p:txBody>
      </p:sp>
      <p:graphicFrame>
        <p:nvGraphicFramePr>
          <p:cNvPr id="11" name="Graphique 10"/>
          <p:cNvGraphicFramePr/>
          <p:nvPr>
            <p:extLst>
              <p:ext uri="{D42A27DB-BD31-4B8C-83A1-F6EECF244321}">
                <p14:modId xmlns:p14="http://schemas.microsoft.com/office/powerpoint/2010/main" val="1158509159"/>
              </p:ext>
            </p:extLst>
          </p:nvPr>
        </p:nvGraphicFramePr>
        <p:xfrm>
          <a:off x="4490710" y="1736725"/>
          <a:ext cx="9858374" cy="5346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225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3000" y="853103"/>
            <a:ext cx="8276897" cy="430887"/>
          </a:xfrm>
        </p:spPr>
        <p:txBody>
          <a:bodyPr anchor="ctr"/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платформы: единый </a:t>
            </a:r>
            <a:r>
              <a:rPr lang="en-GB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GB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20465"/>
            <a:ext cx="2895600" cy="16662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397" y="1707878"/>
            <a:ext cx="2956603" cy="1678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203071"/>
            <a:ext cx="2819400" cy="1820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172516"/>
            <a:ext cx="2881191" cy="1815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/>
          <p:cNvSpPr/>
          <p:nvPr/>
        </p:nvSpPr>
        <p:spPr>
          <a:xfrm>
            <a:off x="3155963" y="1620404"/>
            <a:ext cx="2171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1800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b="1" dirty="0" err="1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GB" sz="1800" b="1" dirty="0" smtClean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 с KPI-карточками, графиком сигналов дрифта и возможностью ручного запуска проверок для любого датасета.</a:t>
            </a: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87072" y="1620404"/>
            <a:ext cx="2133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Workflows</a:t>
            </a:r>
          </a:p>
          <a:p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аудит: журнал всех запусков (runs), статус (triggered/ok) и детальные причины срабатывания триггеров.</a:t>
            </a: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66511" y="4956624"/>
            <a:ext cx="2247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Models</a:t>
            </a:r>
          </a:p>
          <a:p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моделей: реестр, запуск переобучения (</a:t>
            </a:r>
            <a:r>
              <a:rPr lang="en-GB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Retraining) 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перевод (</a:t>
            </a:r>
            <a:r>
              <a:rPr lang="en-GB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promote) 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production.</a:t>
            </a:r>
            <a:endParaRPr lang="en-GB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34672" y="4926070"/>
            <a:ext cx="2438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Inference</a:t>
            </a:r>
          </a:p>
          <a:p>
            <a:pPr algn="l"/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Playground для тестирования: выбор профиля (adult/fraud), JSON-ввод и наглядный результат предсказаний с вероятностью.</a:t>
            </a: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26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3000" y="576104"/>
            <a:ext cx="8915400" cy="984885"/>
          </a:xfrm>
        </p:spPr>
        <p:txBody>
          <a:bodyPr anchor="ctr"/>
          <a:lstStyle/>
          <a:p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Предлагаемая архитектура унифицированной системы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42900" y="2193925"/>
            <a:ext cx="3543300" cy="203132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</a:t>
            </a:r>
            <a:endParaRPr lang="fr-FR" sz="1800" b="1" dirty="0" smtClean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интегрированный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контур: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 → decision → retrain → lifecycle → inference.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для двух разных доменов (Adult + Fraud temporal).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114800" y="2193925"/>
            <a:ext cx="3543300" cy="230832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</a:t>
            </a:r>
            <a:r>
              <a:rPr lang="ru-RU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ценность</a:t>
            </a:r>
            <a:endParaRPr lang="fr-FR" sz="1800" b="1" dirty="0" smtClean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полной прозрачности и возможность аудита системы.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Управляемое, предсказуемое обновление моделей. Поддержка dual-dataset.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7886700" y="2193925"/>
            <a:ext cx="3124201" cy="230832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endParaRPr lang="fr-FR" sz="1800" b="1" dirty="0" smtClean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325A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демо-датасетов и упрощённых порогов принятия решений.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enterprise-аутентификации и поддержки масштабного serving.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571500" y="5318126"/>
            <a:ext cx="9829800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ZoneTexte 8"/>
          <p:cNvSpPr txBox="1"/>
          <p:nvPr/>
        </p:nvSpPr>
        <p:spPr>
          <a:xfrm>
            <a:off x="990600" y="5444451"/>
            <a:ext cx="4191000" cy="36933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 платформы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028700" y="5880190"/>
            <a:ext cx="4191000" cy="120032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Quality gates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переводе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production (A/B tests, shadow deploy)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Расширение комбинаций переобучения (D1+D3, D2+D3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247182" y="5880189"/>
            <a:ext cx="4773118" cy="120032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Настройка оповещений в Slack/email при срабатывании триггеров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Промышленный inference-паттерн под высокой нагрузкой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1143000" y="1564992"/>
            <a:ext cx="1600200" cy="0"/>
          </a:xfrm>
          <a:prstGeom prst="line">
            <a:avLst/>
          </a:prstGeom>
          <a:ln w="38100">
            <a:solidFill>
              <a:srgbClr val="325AD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84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495800" y="3565525"/>
            <a:ext cx="2458278" cy="707886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lang="fr-FR" sz="40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4000" b="1" dirty="0" smtClean="0">
                <a:solidFill>
                  <a:srgbClr val="325A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84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4294</TotalTime>
  <Words>1305</Words>
  <Application>Microsoft Office PowerPoint</Application>
  <PresentationFormat>Personnalisé</PresentationFormat>
  <Paragraphs>119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SimSun</vt:lpstr>
      <vt:lpstr>Calibri</vt:lpstr>
      <vt:lpstr>Georgia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John Doe</cp:lastModifiedBy>
  <cp:revision>107</cp:revision>
  <dcterms:created xsi:type="dcterms:W3CDTF">2025-11-09T01:10:54Z</dcterms:created>
  <dcterms:modified xsi:type="dcterms:W3CDTF">2026-04-17T13:32:43Z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2025-11-09T00:00:00Z</vt:filetime>
  </property>
  <property fmtid="{D5CDD505-2E9C-101B-9397-08002B2CF9AE}" pid="5" name="Producer">
    <vt:lpwstr>GPL Ghostscript 9.56.1</vt:lpwstr>
  </property>
</Properties>
</file>