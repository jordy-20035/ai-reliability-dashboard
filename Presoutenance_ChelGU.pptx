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6" r:id="rId6"/>
    <p:sldId id="262" r:id="rId7"/>
    <p:sldId id="263" r:id="rId8"/>
    <p:sldId id="264" r:id="rId9"/>
    <p:sldId id="265" r:id="rId10"/>
    <p:sldId id="267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6235" autoAdjust="0"/>
  </p:normalViewPr>
  <p:slideViewPr>
    <p:cSldViewPr>
      <p:cViewPr varScale="1">
        <p:scale>
          <a:sx n="87" d="100"/>
          <a:sy n="87" d="100"/>
        </p:scale>
        <p:origin x="230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15B2E0-E817-482F-B6CB-D8B6B36DE4B4}" type="datetimeFigureOut">
              <a:rPr lang="en-GB" smtClean="0"/>
              <a:t>28/05/2026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C0A95-E18C-44B7-A077-B48E09A466E5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5169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"Уважаемая комиссия, коллеги, всем здравствуйте. Сейчас  Представляю выпускную квалификационную работу на тему «Разработка программного комплекса для детектирования дрифта данных и адаптивного переобучения моделей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работе мы рассматриваем не только обнаружение data drift, а полный замкнутый цикл: зафиксировать сдвиг данных, принять решение по правилам, при необходимости переобучить модель, зафиксировать версию в lifecycle и выполнить inference по production-модели. Мы воспроизводим это на двух кейсах: Adult Income (числовые и категориальные признаки, KS и χ²) и Credit Card Fraud (полностью числовой, темпоральный дрифт через окна D1, D2, D3). Два датасета нужны, чтобы показать, что система не привязана к одному домену.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C0A95-E18C-44B7-A077-B48E09A466E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975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продакшене модель деградирует из-за изменения данных, а не алгоритма. Это data drift. Опасность в том, что сервис продолжает отвечать, но качество тихо падает: точность и recall снижаются без явных ошибок в коде.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Отдельного отчёта о дрифте недостаточно — нужны аудит, переобучение, версионирование и контролируемый деплой. Существующие инструменты сильны, но разрознены: Evidently и NannyML — мониторинг, MLflow — реестр, Airflow — оркестрация. Цель нашей работы — единая платформа вместо набора разрозненных MLOps-инструментов.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C0A95-E18C-44B7-A077-B48E09A466E5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529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— сравнение с открытыми и коммерческими решениями по пяти функциям: детектирование дрифта, реестр моделей, оркестрация, автоматическое переобучение.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Evidently и NannyML хорошо закрывают мониторинг, но не дают полного цикла. MLflow ведёт версии моделей, но не оркестрирует реакцию на дрифт. Airflow оркестрирует пайплайны, но не специализирован на drift policy.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Ни одно из решений не покрывает в одной системе полный контур drift → policy → retrain → lifecycle → inference. Именно этот пробел мы закрываем нашей платформой.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C0A95-E18C-44B7-A077-B48E09A466E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6524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обнаружения data drift мы используем три статистических инструмента, которые покрывают разные типы признаков.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PSI — индекс стабильности распределения, стандарт в банковском скоринге;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KS — критерий Колмогорова–Смирнова для числовых признаков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 — для категориальных;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выбрали их потому, что они интерпретируемы, приняты в индустрии и не требуют допущений о форме распределения. Сейчас платформа обнаруживает именно data drift — сдвиг входных признаков;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C0A95-E18C-44B7-A077-B48E09A466E5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451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Платформа состоит из пяти бэкенд-модулей и двух интерфейсных уровней.</a:t>
            </a:r>
          </a:p>
          <a:p>
            <a:r>
              <a:rPr lang="en-GB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drift_detection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PSI, KS, </a:t>
            </a:r>
            <a:r>
              <a:rPr lang="el-G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χ². 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orchestration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центр интеграции: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engine, policy,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цепочка действий, </a:t>
            </a:r>
            <a:r>
              <a:rPr lang="en-GB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RunStore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retraining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обучение, оценка, продвижение по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champion rule. </a:t>
            </a:r>
          </a:p>
          <a:p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lifecycle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стадии моделей и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production-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указатель. 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data_management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версии датасетов,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снапшоты и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 provenance.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Сверху —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 API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GB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FastAPI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React.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Хранение — три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SQLite-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базы в общем томе </a:t>
            </a:r>
            <a:r>
              <a:rPr lang="en-GB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artifacts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Развёртывание —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Docker Compose.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Один запуск оркестрации — атомарная единица работы: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 check →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решение → действия → запись в базу.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C0A95-E18C-44B7-A077-B48E09A466E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8047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Политика срабатывания использует три порога: любая фича с high PSI, более двух значимых KS-тестов, более трёх значимых χ²-тестов.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триггере выполняется цепочка: LogAction → WebhookAlertAction → RetrainPipelineAction.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Переобучение автоматическое — это адаптивная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часть проекта. 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/>
            </a:r>
            <a:b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production модель не попадает сама: promotion вручную или по champion rule — macro-F1 новой модели должен быть не ниже текущего чемпиона. Иначе версия регистрируется, но production-указатель не меняется.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осознанный выбор для governance.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C0A95-E18C-44B7-A077-B48E09A466E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42631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Adult: random_holdout — контрольный случай, reference и current из одной популяции, триггер не срабатывает. 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age_shift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 current фильтруется по age ≥ 40, фиксируется сильный сдвиг: 4 high PSI, 5 KS — policy срабатывает. </a:t>
            </a:r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подтверждает, что система молчит при стабильных данных и реагирует при реальном сдвиге.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Fraud — три темпоральных окна D1, D2, D3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и при сравнения эти окна  Все fraud-сценарии дают триггер</a:t>
            </a:r>
            <a:r>
              <a:rPr lang="fr-FR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Дрейф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монотонно растёт с временным расстоянием: средний PSI 0.11 → 0.16 →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0.23.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Adult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проверяет чувствительность policy, Fraud — темпоральный дрифт на реальных финансовых данных.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C0A95-E18C-44B7-A077-B48E09A466E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8191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Ключевой результат: модель, обученная только на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D1,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D3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даёт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PR-AUC 0.609.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переобучения на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D1+D2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том же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D3 — 0.746,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прирост +0.137.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ROC-AUC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0.949 до 0.978,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recall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 0.820 до 0.877.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Включение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среднего окна восстанавливает качество на будущих данных.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Демо платформы — линейный сценарий.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Overview: fraud_d1_vs_d2, drift signal counts. </a:t>
            </a:r>
            <a:endParaRPr lang="en-GB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Workflows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тот же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run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таблице с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 reasons. </a:t>
            </a:r>
            <a:endParaRPr lang="en-GB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после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drift trigger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появляется новая версия; выбираем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Row ID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ставим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stage = production. </a:t>
            </a:r>
            <a:endParaRPr lang="en-GB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Inference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профиль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fraud, V1–V28 + Amount,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получаем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legit/fraud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 вероятность. 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Data: Dataset Versions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фиксирует файлы с хешем,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Training Provenance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связывает модель с данными и </a:t>
            </a:r>
            <a:r>
              <a:rPr lang="en-GB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baseline.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Так показывается полный замкнутый цикл.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C0A95-E18C-44B7-A077-B48E09A466E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6886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pc="-75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Вклад</a:t>
            </a:r>
            <a:r>
              <a:rPr lang="fr-FR" spc="-75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интегрированный MLOps-контур в одной системе, два домена (Adult и Fraud), provenance для аудита, воспроизводимое развёртывание через Docker Compose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Ограничения честно признаём: демо-датасеты, фиксированные пороги дрифта, single-host без Kubernetes, нет enterprise-аутентификации.</a:t>
            </a:r>
            <a:endParaRPr lang="fr-FR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Направления развития: адаптивные пороги с учётом истории сдвигов, расширение на concept drift и label drift,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который</a:t>
            </a:r>
            <a:r>
              <a:rPr lang="ru-RU" sz="1200" b="0" i="0" kern="1200" baseline="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также втечаются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Мы 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уже подтвердили гибкость архитектуры на двух разных доменах без изменения основного контура.</a:t>
            </a:r>
          </a:p>
          <a:p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C0A95-E18C-44B7-A077-B48E09A466E5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41184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Спасибо за внимание. Готов ответить на ваши вопросы. </a:t>
            </a:r>
            <a:endParaRPr lang="en-GB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EC0A95-E18C-44B7-A077-B48E09A466E5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013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6029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7204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1992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0606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061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10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6313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8963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115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7069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0857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5C2067-0E2A-4BE7-82AF-1C94F751F770}" type="datetimeFigureOut">
              <a:rPr lang="ru-RU" smtClean="0"/>
              <a:t>28.05.2026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08325-2367-436E-9EAF-DBB5F6CC8585}" type="slidenum">
              <a:rPr lang="ru-RU" smtClean="0"/>
              <a:t>‹N°›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464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55576" y="1772816"/>
            <a:ext cx="7772400" cy="2259682"/>
          </a:xfrm>
        </p:spPr>
        <p:txBody>
          <a:bodyPr>
            <a:normAutofit/>
          </a:bodyPr>
          <a:lstStyle/>
          <a:p>
            <a:pPr>
              <a:lnSpc>
                <a:spcPts val="2700"/>
              </a:lnSpc>
            </a:pPr>
            <a:r>
              <a:rPr lang="ru-RU" sz="18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ВЫПУСКНАЯ КВАЛИФИКАЦИОННАЯ РАБОТА</a:t>
            </a:r>
            <a:r>
              <a:rPr lang="ru-RU" sz="1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1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1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/>
            </a:r>
            <a:br>
              <a:rPr lang="ru-RU" sz="1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spc="-96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программного комплекса для детектирования дрифта данных и адаптивного переобучения </a:t>
            </a:r>
            <a:r>
              <a:rPr lang="ru-RU" sz="1800" spc="-96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</a:t>
            </a:r>
            <a:endParaRPr lang="ru-RU" sz="1800" spc="-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39552" y="3901294"/>
            <a:ext cx="3888432" cy="17526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Выполнил </a:t>
            </a:r>
            <a:r>
              <a:rPr lang="ru-RU" sz="1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студент</a:t>
            </a:r>
            <a:r>
              <a:rPr lang="fr-FR" sz="1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Нджака Манье Джордана Р </a:t>
            </a:r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Сесиль</a:t>
            </a:r>
            <a:endParaRPr lang="ru-RU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Группы </a:t>
            </a:r>
            <a:r>
              <a:rPr lang="ru-RU" sz="1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МПрИ-201</a:t>
            </a:r>
            <a:endParaRPr lang="ru-RU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4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Очная формы </a:t>
            </a:r>
            <a:r>
              <a:rPr lang="ru-RU" sz="1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обучения </a:t>
            </a:r>
          </a:p>
          <a:p>
            <a:pPr algn="l"/>
            <a:r>
              <a:rPr lang="ru-RU" sz="15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направления </a:t>
            </a:r>
            <a:r>
              <a:rPr lang="ru-RU" sz="15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подготовки</a:t>
            </a:r>
            <a:r>
              <a:rPr lang="fr-FR" sz="1500" dirty="0" smtClean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09.04.04 «программная инженерия</a:t>
            </a:r>
            <a:r>
              <a:rPr lang="ru-RU" sz="15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15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4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Шифр название</a:t>
            </a:r>
            <a:endParaRPr lang="ru-RU" sz="14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5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5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l"/>
            <a:endParaRPr lang="ru-RU" dirty="0">
              <a:solidFill>
                <a:schemeClr val="tx1"/>
              </a:solidFill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AAECCC-316B-C41D-C217-8B46A5E36F31}"/>
              </a:ext>
            </a:extLst>
          </p:cNvPr>
          <p:cNvSpPr txBox="1"/>
          <p:nvPr/>
        </p:nvSpPr>
        <p:spPr>
          <a:xfrm>
            <a:off x="2267744" y="920571"/>
            <a:ext cx="558460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Институт информационных технологий</a:t>
            </a:r>
          </a:p>
          <a:p>
            <a:pPr algn="ctr"/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Кафедра информационных технологий и экономической информатики</a:t>
            </a: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BD578-562F-B765-DBD7-3BAFDF84DECF}"/>
              </a:ext>
            </a:extLst>
          </p:cNvPr>
          <p:cNvSpPr txBox="1"/>
          <p:nvPr/>
        </p:nvSpPr>
        <p:spPr>
          <a:xfrm>
            <a:off x="5652149" y="3901294"/>
            <a:ext cx="3168323" cy="24772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Научный </a:t>
            </a:r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руководитель</a:t>
            </a:r>
            <a:r>
              <a:rPr lang="fr-FR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Вохминцев Александр Владиславович </a:t>
            </a:r>
            <a:endParaRPr lang="fr-FR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Должность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профессор кафедры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ИТиЭИ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Ученая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степень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доктор тех. наук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Ученое звание: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</a:t>
            </a:r>
            <a:endParaRPr lang="fr-FR" sz="1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Научный консультант</a:t>
            </a:r>
          </a:p>
          <a:p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ФИО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Иванова Ольга Николаевна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ru-RU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Должность</a:t>
            </a:r>
            <a:r>
              <a:rPr lang="fr-FR" sz="1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кафедры </a:t>
            </a:r>
            <a:r>
              <a:rPr lang="ru-RU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KM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060700" indent="-3107690" algn="just">
              <a:lnSpc>
                <a:spcPct val="107000"/>
              </a:lnSpc>
              <a:spcAft>
                <a:spcPts val="800"/>
              </a:spcAft>
            </a:pPr>
            <a:endParaRPr lang="ru-RU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230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5383"/>
            <a:ext cx="9144000" cy="5147235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3" name="Rectangle 2"/>
          <p:cNvSpPr/>
          <p:nvPr/>
        </p:nvSpPr>
        <p:spPr>
          <a:xfrm>
            <a:off x="0" y="855383"/>
            <a:ext cx="9144000" cy="552594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ru-RU" sz="1412" dirty="0"/>
          </a:p>
        </p:txBody>
      </p:sp>
      <p:sp>
        <p:nvSpPr>
          <p:cNvPr id="4" name="Rounded Rectangle 3"/>
          <p:cNvSpPr/>
          <p:nvPr/>
        </p:nvSpPr>
        <p:spPr>
          <a:xfrm>
            <a:off x="358588" y="1213972"/>
            <a:ext cx="966740" cy="253649"/>
          </a:xfrm>
          <a:prstGeom prst="roundRect">
            <a:avLst>
              <a:gd name="adj" fmla="val 23561"/>
            </a:avLst>
          </a:prstGeom>
          <a:solidFill>
            <a:srgbClr val="FCE9E3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706" spc="7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8588" y="1527385"/>
            <a:ext cx="8426824" cy="298824"/>
          </a:xfrm>
          <a:prstGeom prst="roundRect">
            <a:avLst>
              <a:gd name="adj" fmla="val 2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2118"/>
              </a:lnSpc>
            </a:pP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дрифт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риски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продакшене</a:t>
            </a:r>
            <a:endParaRPr spc="-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8588" y="1975621"/>
            <a:ext cx="8426824" cy="366840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7" name="Rectangle 6"/>
          <p:cNvSpPr/>
          <p:nvPr/>
        </p:nvSpPr>
        <p:spPr>
          <a:xfrm>
            <a:off x="358588" y="1975621"/>
            <a:ext cx="4078941" cy="36684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8" name="Rectangle 7"/>
          <p:cNvSpPr/>
          <p:nvPr/>
        </p:nvSpPr>
        <p:spPr>
          <a:xfrm>
            <a:off x="537882" y="2154915"/>
            <a:ext cx="3720353" cy="679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9" name="TextBox 8"/>
          <p:cNvSpPr txBox="1"/>
          <p:nvPr/>
        </p:nvSpPr>
        <p:spPr>
          <a:xfrm>
            <a:off x="758965" y="2154915"/>
            <a:ext cx="349927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Drift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65" y="2379032"/>
            <a:ext cx="3499270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Сдвиг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распределений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входных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данных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относительно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распределений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обучении</a:t>
            </a:r>
            <a:endParaRPr sz="1200" dirty="0">
              <a:solidFill>
                <a:schemeClr val="tx1">
                  <a:alpha val="72156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3" y="2154915"/>
            <a:ext cx="131435" cy="13143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37882" y="2924385"/>
            <a:ext cx="3720353" cy="679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13" name="TextBox 12"/>
          <p:cNvSpPr txBox="1"/>
          <p:nvPr/>
        </p:nvSpPr>
        <p:spPr>
          <a:xfrm>
            <a:off x="758965" y="2924385"/>
            <a:ext cx="349927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Скрытый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риск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65" y="3148503"/>
            <a:ext cx="3499270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Снижение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качества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модели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тихо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»,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явных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ошибок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коде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сервиса</a:t>
            </a:r>
            <a:endParaRPr sz="1200" dirty="0">
              <a:solidFill>
                <a:schemeClr val="tx1">
                  <a:alpha val="72156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3" y="2924385"/>
            <a:ext cx="131435" cy="13143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37882" y="3693856"/>
            <a:ext cx="3720353" cy="679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17" name="TextBox 16"/>
          <p:cNvSpPr txBox="1"/>
          <p:nvPr/>
        </p:nvSpPr>
        <p:spPr>
          <a:xfrm>
            <a:off x="758965" y="3693856"/>
            <a:ext cx="349927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Недостаточность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детекторов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965" y="3917973"/>
            <a:ext cx="3499270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Нужен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аудит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переобучение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версионирование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деплой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просто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алерт</a:t>
            </a:r>
            <a:endParaRPr sz="1200" dirty="0">
              <a:solidFill>
                <a:schemeClr val="tx1">
                  <a:alpha val="72156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83" y="3693856"/>
            <a:ext cx="131435" cy="131435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537882" y="4463326"/>
            <a:ext cx="3720353" cy="5827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21" name="TextBox 20"/>
          <p:cNvSpPr txBox="1"/>
          <p:nvPr/>
        </p:nvSpPr>
        <p:spPr>
          <a:xfrm>
            <a:off x="758965" y="4463327"/>
            <a:ext cx="349927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Фрагментация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инструментов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965" y="4687444"/>
            <a:ext cx="3499270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Evidently /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NannyML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Airflow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решают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каждый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свою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часть</a:t>
            </a:r>
            <a:endParaRPr sz="1200" dirty="0">
              <a:solidFill>
                <a:schemeClr val="tx1">
                  <a:alpha val="72156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883" y="4463326"/>
            <a:ext cx="131435" cy="131435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586941" y="1975621"/>
            <a:ext cx="4198471" cy="3668409"/>
          </a:xfrm>
          <a:prstGeom prst="rect">
            <a:avLst/>
          </a:prstGeom>
          <a:solidFill>
            <a:srgbClr val="AD1164">
              <a:alpha val="1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25" name="Rounded Rectangle 24"/>
          <p:cNvSpPr/>
          <p:nvPr/>
        </p:nvSpPr>
        <p:spPr>
          <a:xfrm>
            <a:off x="4826000" y="3436237"/>
            <a:ext cx="3720353" cy="224118"/>
          </a:xfrm>
          <a:prstGeom prst="roundRect">
            <a:avLst>
              <a:gd name="adj" fmla="val 2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ts val="1647"/>
              </a:lnSpc>
            </a:pPr>
            <a:r>
              <a:rPr sz="1412" spc="-56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sz="1412" spc="-5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12" spc="-56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работы</a:t>
            </a:r>
            <a:endParaRPr sz="1412" spc="-56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826000" y="3779884"/>
            <a:ext cx="3720353" cy="403412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ts val="1588"/>
              </a:lnSpc>
            </a:pP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Единая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вместо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набора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разрозненных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MLOps-инструментов</a:t>
            </a:r>
            <a:endParaRPr sz="1200" dirty="0">
              <a:solidFill>
                <a:schemeClr val="tx1">
                  <a:alpha val="72156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37882" y="2834738"/>
            <a:ext cx="372035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37882" y="3604209"/>
            <a:ext cx="372035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37882" y="4373679"/>
            <a:ext cx="372035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154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855383"/>
            <a:ext cx="9144000" cy="51472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4" name="Rounded Rectangle 3"/>
          <p:cNvSpPr/>
          <p:nvPr/>
        </p:nvSpPr>
        <p:spPr>
          <a:xfrm>
            <a:off x="358588" y="1154206"/>
            <a:ext cx="8426824" cy="298824"/>
          </a:xfrm>
          <a:prstGeom prst="roundRect">
            <a:avLst>
              <a:gd name="adj" fmla="val 2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2118"/>
              </a:lnSpc>
            </a:pP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аналогов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существующими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инструментами</a:t>
            </a:r>
            <a:endParaRPr spc="-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768052" y="1875816"/>
            <a:ext cx="1354627" cy="4960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130"/>
              </a:lnSpc>
            </a:pPr>
            <a:r>
              <a:rPr sz="1200" spc="-27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Детектирование</a:t>
            </a:r>
            <a:r>
              <a:rPr sz="1200" spc="-2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7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дрифта</a:t>
            </a:r>
            <a:endParaRPr sz="1200" spc="-2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82444" y="1875816"/>
            <a:ext cx="1354627" cy="4960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130"/>
              </a:lnSpc>
            </a:pPr>
            <a:r>
              <a:rPr sz="1200" spc="-27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Реестр</a:t>
            </a:r>
            <a:r>
              <a:rPr sz="1200" spc="-2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27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</a:t>
            </a:r>
            <a:endParaRPr sz="1200" spc="-2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96837" y="1875816"/>
            <a:ext cx="1354627" cy="4960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130"/>
              </a:lnSpc>
            </a:pPr>
            <a:r>
              <a:rPr sz="1200" spc="-27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Оркестрация</a:t>
            </a:r>
            <a:endParaRPr sz="1200" spc="-2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011229" y="1875816"/>
            <a:ext cx="1354627" cy="4960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130"/>
              </a:lnSpc>
            </a:pPr>
            <a:r>
              <a:rPr sz="1200" spc="-27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Авто</a:t>
            </a:r>
            <a:r>
              <a:rPr sz="1200" spc="-2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spc="-27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sz="1200" spc="-27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переобучение</a:t>
            </a:r>
            <a:endParaRPr sz="1200" spc="-27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425621" y="1875816"/>
            <a:ext cx="1354627" cy="496093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130"/>
              </a:lnSpc>
            </a:pPr>
            <a:r>
              <a:rPr sz="1200" spc="-27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306" y="2371910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3659" y="2371909"/>
            <a:ext cx="1354627" cy="334933"/>
          </a:xfrm>
          <a:prstGeom prst="rect">
            <a:avLst/>
          </a:prstGeom>
          <a:noFill/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Evidently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7699" y="2371910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68052" y="2371909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72091" y="2371910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82444" y="2371909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86484" y="2371910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96837" y="2371909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00876" y="2371910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11229" y="2371909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15268" y="2371910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25621" y="2371909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306" y="2708086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3659" y="2708086"/>
            <a:ext cx="1354627" cy="334933"/>
          </a:xfrm>
          <a:prstGeom prst="rect">
            <a:avLst/>
          </a:prstGeom>
          <a:noFill/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NannyML</a:t>
            </a:r>
            <a:endParaRPr sz="1200" dirty="0">
              <a:solidFill>
                <a:schemeClr val="tx1">
                  <a:alpha val="72156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857699" y="2708086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768052" y="2708086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2091" y="2708086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182444" y="2708086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86484" y="2708086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596837" y="2708086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0876" y="2708086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011229" y="2708086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15268" y="2708086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425621" y="2708086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3306" y="304426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3659" y="3044262"/>
            <a:ext cx="1354627" cy="334933"/>
          </a:xfrm>
          <a:prstGeom prst="rect">
            <a:avLst/>
          </a:prstGeom>
          <a:noFill/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MLflow</a:t>
            </a:r>
            <a:endParaRPr sz="1200" dirty="0">
              <a:solidFill>
                <a:schemeClr val="tx1">
                  <a:alpha val="72156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857699" y="304426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68052" y="3044262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72091" y="304426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182444" y="3044262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86484" y="304426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96837" y="3044262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00876" y="304426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011229" y="3044262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15268" y="304426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25621" y="3044262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3306" y="3380439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53659" y="3380439"/>
            <a:ext cx="1354627" cy="334933"/>
          </a:xfrm>
          <a:prstGeom prst="rect">
            <a:avLst/>
          </a:prstGeom>
          <a:noFill/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Weights  Biases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57699" y="3380439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68052" y="3380439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4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72091" y="3380439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82444" y="3380439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86484" y="3380439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596837" y="3380439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00876" y="3380439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011229" y="3380439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15268" y="3380439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425621" y="3380439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◐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3306" y="3716615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3659" y="3716615"/>
            <a:ext cx="1354627" cy="334933"/>
          </a:xfrm>
          <a:prstGeom prst="rect">
            <a:avLst/>
          </a:prstGeom>
          <a:noFill/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Apache Airflow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57699" y="3716615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768052" y="3716615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72091" y="3716615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82444" y="3716615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686484" y="3716615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596837" y="3716615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00876" y="3716615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011229" y="3716615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◐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15268" y="3716615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425621" y="3716615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3306" y="405279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353659" y="4052792"/>
            <a:ext cx="1354627" cy="334933"/>
          </a:xfrm>
          <a:prstGeom prst="rect">
            <a:avLst/>
          </a:prstGeom>
          <a:noFill/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Fiddler AI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857699" y="405279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768052" y="4052792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72091" y="405279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182444" y="4052792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◐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686484" y="405279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4596837" y="4052792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100876" y="405279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6011229" y="4052792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80" name="Rectangle 79"/>
          <p:cNvSpPr/>
          <p:nvPr/>
        </p:nvSpPr>
        <p:spPr>
          <a:xfrm>
            <a:off x="7515268" y="4052792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425621" y="4052792"/>
            <a:ext cx="1354627" cy="33493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89647" tIns="89647" rIns="89647" bIns="89647">
            <a:spAutoFit/>
          </a:bodyPr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✗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3306" y="4388968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3" name="Rounded Rectangle 82"/>
          <p:cNvSpPr/>
          <p:nvPr/>
        </p:nvSpPr>
        <p:spPr>
          <a:xfrm>
            <a:off x="293893" y="4388968"/>
            <a:ext cx="1414393" cy="336176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235"/>
              </a:lnSpc>
            </a:pPr>
            <a:r>
              <a:rPr sz="1200" b="1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Наша</a:t>
            </a:r>
            <a:r>
              <a:rPr sz="1200" b="1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b="1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платформа</a:t>
            </a:r>
            <a:endParaRPr sz="1200" b="1" dirty="0">
              <a:solidFill>
                <a:schemeClr val="tx1">
                  <a:alpha val="72156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1857699" y="4388968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1768052" y="4388968"/>
            <a:ext cx="1354627" cy="33617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235"/>
              </a:lnSpc>
            </a:pP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72091" y="4388968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3182444" y="4388968"/>
            <a:ext cx="1354627" cy="33617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686484" y="4388968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Rounded Rectangle 88"/>
          <p:cNvSpPr/>
          <p:nvPr/>
        </p:nvSpPr>
        <p:spPr>
          <a:xfrm>
            <a:off x="4596837" y="4388968"/>
            <a:ext cx="1354627" cy="33617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100876" y="4388968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6011229" y="4388968"/>
            <a:ext cx="1354627" cy="33617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15268" y="4388968"/>
            <a:ext cx="1175333" cy="33617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7425621" y="4388968"/>
            <a:ext cx="1354627" cy="336176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>
              <a:lnSpc>
                <a:spcPts val="1235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3659" y="4725144"/>
            <a:ext cx="8426824" cy="40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353659" y="4725144"/>
            <a:ext cx="1494118" cy="40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353659" y="4725145"/>
            <a:ext cx="1494118" cy="201706"/>
          </a:xfrm>
          <a:prstGeom prst="roundRect">
            <a:avLst>
              <a:gd name="adj" fmla="val 2962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>
              <a:lnSpc>
                <a:spcPts val="1588"/>
              </a:lnSpc>
            </a:pP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💡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907542" y="4725144"/>
            <a:ext cx="6872824" cy="40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Rounded Rectangle 97"/>
          <p:cNvSpPr/>
          <p:nvPr/>
        </p:nvSpPr>
        <p:spPr>
          <a:xfrm>
            <a:off x="1907542" y="4725144"/>
            <a:ext cx="6872824" cy="403412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ts val="1588"/>
              </a:lnSpc>
            </a:pP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Ни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существующих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решений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покрывает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полный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b="1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drift → policy → retrain → lifecycle → inference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одной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системе</a:t>
            </a:r>
            <a:r>
              <a:rPr sz="1059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1768052" y="1875816"/>
            <a:ext cx="1354627" cy="0"/>
          </a:xfrm>
          <a:prstGeom prst="line">
            <a:avLst/>
          </a:prstGeom>
          <a:ln w="50800">
            <a:solidFill>
              <a:srgbClr val="E05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596837" y="1875816"/>
            <a:ext cx="1354627" cy="0"/>
          </a:xfrm>
          <a:prstGeom prst="line">
            <a:avLst/>
          </a:prstGeom>
          <a:ln w="50800">
            <a:solidFill>
              <a:srgbClr val="E05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7425621" y="1875816"/>
            <a:ext cx="1354628" cy="0"/>
          </a:xfrm>
          <a:prstGeom prst="line">
            <a:avLst/>
          </a:prstGeom>
          <a:ln w="50800">
            <a:solidFill>
              <a:srgbClr val="E051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3182444" y="1875816"/>
            <a:ext cx="1354628" cy="0"/>
          </a:xfrm>
          <a:prstGeom prst="line">
            <a:avLst/>
          </a:prstGeom>
          <a:ln w="50800">
            <a:solidFill>
              <a:srgbClr val="25A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6011229" y="1875816"/>
            <a:ext cx="1354627" cy="0"/>
          </a:xfrm>
          <a:prstGeom prst="line">
            <a:avLst/>
          </a:prstGeom>
          <a:ln w="50800">
            <a:solidFill>
              <a:srgbClr val="25A5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43306" y="2371909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857699" y="2371909"/>
            <a:ext cx="1175333" cy="0"/>
          </a:xfrm>
          <a:prstGeom prst="line">
            <a:avLst/>
          </a:prstGeom>
          <a:ln w="12700">
            <a:solidFill>
              <a:srgbClr val="1E1E1E">
                <a:alpha val="6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3272091" y="2371909"/>
            <a:ext cx="1175334" cy="0"/>
          </a:xfrm>
          <a:prstGeom prst="line">
            <a:avLst/>
          </a:prstGeom>
          <a:ln w="12700">
            <a:solidFill>
              <a:srgbClr val="1E1E1E">
                <a:alpha val="6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4686484" y="2371909"/>
            <a:ext cx="1175333" cy="0"/>
          </a:xfrm>
          <a:prstGeom prst="line">
            <a:avLst/>
          </a:prstGeom>
          <a:ln w="12700">
            <a:solidFill>
              <a:srgbClr val="1E1E1E">
                <a:alpha val="6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6100876" y="2371909"/>
            <a:ext cx="1175333" cy="0"/>
          </a:xfrm>
          <a:prstGeom prst="line">
            <a:avLst/>
          </a:prstGeom>
          <a:ln w="12700">
            <a:solidFill>
              <a:srgbClr val="1E1E1E">
                <a:alpha val="6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515268" y="2371909"/>
            <a:ext cx="1175334" cy="0"/>
          </a:xfrm>
          <a:prstGeom prst="line">
            <a:avLst/>
          </a:prstGeom>
          <a:ln w="12700">
            <a:solidFill>
              <a:srgbClr val="1E1E1E">
                <a:alpha val="6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443306" y="2708085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857699" y="2708085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3272091" y="2708085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4686484" y="2708085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6100876" y="2708085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15268" y="2708085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443306" y="3044262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1857699" y="3044262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3272091" y="3044262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4686484" y="3044262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6100876" y="3044262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515268" y="3044262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443306" y="3380438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57699" y="3380438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3272091" y="3380438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4686484" y="3380438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6100876" y="3380438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7515268" y="3380438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443306" y="3716615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1857699" y="3716615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3272091" y="3716615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4686484" y="3716615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6100876" y="3716615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515268" y="3716615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43306" y="4052791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1857699" y="4052791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3272091" y="4052791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4686484" y="4052791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6100876" y="4052791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515268" y="4052791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443306" y="4388968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1857699" y="4388968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3272091" y="4388968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4686484" y="4388968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6100876" y="4388968"/>
            <a:ext cx="1175333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515268" y="4388968"/>
            <a:ext cx="1175334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37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887623"/>
            <a:ext cx="9144000" cy="5316958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855383"/>
            <a:ext cx="9144000" cy="531695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5" name="Rectangle 4"/>
          <p:cNvSpPr/>
          <p:nvPr/>
        </p:nvSpPr>
        <p:spPr>
          <a:xfrm>
            <a:off x="358588" y="1213971"/>
            <a:ext cx="8426824" cy="45997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6" name="Rectangle 5"/>
          <p:cNvSpPr/>
          <p:nvPr/>
        </p:nvSpPr>
        <p:spPr>
          <a:xfrm>
            <a:off x="358588" y="1213971"/>
            <a:ext cx="2620075" cy="45997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7" name="Rounded Rectangle 6"/>
          <p:cNvSpPr/>
          <p:nvPr/>
        </p:nvSpPr>
        <p:spPr>
          <a:xfrm>
            <a:off x="358589" y="1213972"/>
            <a:ext cx="935340" cy="253649"/>
          </a:xfrm>
          <a:prstGeom prst="roundRect">
            <a:avLst>
              <a:gd name="adj" fmla="val 23561"/>
            </a:avLst>
          </a:prstGeom>
          <a:solidFill>
            <a:srgbClr val="F7E3E8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706" spc="7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МЕТОДОЛОГИЯ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588" y="1557268"/>
            <a:ext cx="2500547" cy="697704"/>
          </a:xfrm>
          <a:prstGeom prst="roundRect">
            <a:avLst>
              <a:gd name="adj" fmla="val 5405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2118"/>
              </a:lnSpc>
            </a:pP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Статистические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детектирования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дрифта</a:t>
            </a:r>
            <a:endParaRPr spc="-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58587" y="2613560"/>
            <a:ext cx="2620075" cy="806824"/>
          </a:xfrm>
          <a:prstGeom prst="roundRect">
            <a:avLst>
              <a:gd name="adj" fmla="val 7407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1588"/>
              </a:lnSpc>
            </a:pP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метода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покрывают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численные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категориальные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признаки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настраиваемыми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порогами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обнаружения</a:t>
            </a:r>
            <a:r>
              <a:rPr sz="12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7723" y="1213971"/>
            <a:ext cx="5567689" cy="459978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11" name="Rounded Rectangle 10"/>
          <p:cNvSpPr/>
          <p:nvPr/>
        </p:nvSpPr>
        <p:spPr>
          <a:xfrm>
            <a:off x="3217723" y="1213972"/>
            <a:ext cx="5567689" cy="1493417"/>
          </a:xfrm>
          <a:prstGeom prst="roundRect">
            <a:avLst>
              <a:gd name="adj" fmla="val 4001"/>
            </a:avLst>
          </a:prstGeom>
          <a:solidFill>
            <a:srgbClr val="FFFFFF"/>
          </a:solidFill>
          <a:ln>
            <a:noFill/>
          </a:ln>
          <a:effectLst>
            <a:outerShdw blurRad="45720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64252" y="1460501"/>
            <a:ext cx="211661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000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782" y="1826208"/>
            <a:ext cx="5089571" cy="166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292"/>
              </a:lnSpc>
            </a:pPr>
            <a:r>
              <a:rPr sz="12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Population Stability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782" y="2109742"/>
            <a:ext cx="5089571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PSI = Σ (Qᵢ − Pᵢ) · ln(Qᵢ / Pᵢ)  ·  10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бинов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
&lt; 0.10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норма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0.10–0.25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умеренный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≥ 0.25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высокий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дрифт</a:t>
            </a:r>
            <a:endParaRPr sz="1200" dirty="0">
              <a:solidFill>
                <a:srgbClr val="3C0221">
                  <a:alpha val="72156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217723" y="2767153"/>
            <a:ext cx="5567689" cy="1493417"/>
          </a:xfrm>
          <a:prstGeom prst="roundRect">
            <a:avLst>
              <a:gd name="adj" fmla="val 4001"/>
            </a:avLst>
          </a:prstGeom>
          <a:solidFill>
            <a:srgbClr val="FFFFFF"/>
          </a:solidFill>
          <a:ln>
            <a:noFill/>
          </a:ln>
          <a:effectLst>
            <a:outerShdw blurRad="45720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64252" y="3013683"/>
            <a:ext cx="211661" cy="115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000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782" y="3379390"/>
            <a:ext cx="5089571" cy="166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292"/>
              </a:lnSpc>
            </a:pPr>
            <a:r>
              <a:rPr sz="1200" spc="-3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</a:t>
            </a:r>
            <a:r>
              <a:rPr sz="12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Колмогорова</a:t>
            </a:r>
            <a:r>
              <a:rPr sz="12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sz="1200" spc="-3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Смирнова</a:t>
            </a:r>
            <a:endParaRPr sz="1200" spc="-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56782" y="3662923"/>
            <a:ext cx="5089571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KS = supₓ |Fₙ(x) − Gₘ(x)|  ·  α = 0.05
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Применяется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численных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признаков</a:t>
            </a:r>
            <a:endParaRPr sz="1200" dirty="0">
              <a:solidFill>
                <a:srgbClr val="3C0221">
                  <a:alpha val="72156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217723" y="4320335"/>
            <a:ext cx="5567689" cy="1493417"/>
          </a:xfrm>
          <a:prstGeom prst="roundRect">
            <a:avLst>
              <a:gd name="adj" fmla="val 4001"/>
            </a:avLst>
          </a:prstGeom>
          <a:solidFill>
            <a:srgbClr val="FFFFFF"/>
          </a:solidFill>
          <a:ln>
            <a:noFill/>
          </a:ln>
          <a:effectLst>
            <a:outerShdw blurRad="457200" algn="tl" rotWithShape="0">
              <a:srgbClr val="666666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64251" y="4566864"/>
            <a:ext cx="211661" cy="1154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000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782" y="4932572"/>
            <a:ext cx="5089571" cy="166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292"/>
              </a:lnSpc>
            </a:pPr>
            <a:r>
              <a:rPr sz="1200" spc="-3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</a:t>
            </a:r>
            <a:r>
              <a:rPr sz="1200" spc="-3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spc="-3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хи-квадрат</a:t>
            </a:r>
            <a:endParaRPr sz="1200" spc="-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56782" y="5216105"/>
            <a:ext cx="5089571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χ² = Σ (Oᵢ − Eᵢ)² / Eᵢ  ·  α = 0.05
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Категориальные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признаки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редкие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категории</a:t>
            </a:r>
            <a:r>
              <a:rPr sz="12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200" b="1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</a:p>
        </p:txBody>
      </p:sp>
    </p:spTree>
    <p:extLst>
      <p:ext uri="{BB962C8B-B14F-4D97-AF65-F5344CB8AC3E}">
        <p14:creationId xmlns:p14="http://schemas.microsoft.com/office/powerpoint/2010/main" val="150960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149" y="940983"/>
            <a:ext cx="9144000" cy="5147235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3" name="Rectangle 2"/>
          <p:cNvSpPr/>
          <p:nvPr/>
        </p:nvSpPr>
        <p:spPr>
          <a:xfrm>
            <a:off x="0" y="855383"/>
            <a:ext cx="9144000" cy="51472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4" name="Rounded Rectangle 3"/>
          <p:cNvSpPr/>
          <p:nvPr/>
        </p:nvSpPr>
        <p:spPr>
          <a:xfrm>
            <a:off x="395536" y="1330073"/>
            <a:ext cx="8426824" cy="224118"/>
          </a:xfrm>
          <a:prstGeom prst="roundRect">
            <a:avLst>
              <a:gd name="adj" fmla="val 2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1647"/>
              </a:lnSpc>
            </a:pPr>
            <a:r>
              <a:rPr spc="-56" dirty="0" err="1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</a:t>
            </a:r>
            <a:r>
              <a:rPr spc="-56" dirty="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56" dirty="0" err="1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платформы</a:t>
            </a:r>
            <a:r>
              <a:rPr spc="-56" dirty="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5 </a:t>
            </a:r>
            <a:r>
              <a:rPr spc="-56" dirty="0" err="1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модулей</a:t>
            </a:r>
            <a:endParaRPr spc="-56" dirty="0">
              <a:solidFill>
                <a:srgbClr val="3C0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95536" y="1933441"/>
            <a:ext cx="8426824" cy="4927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5536" y="1933441"/>
            <a:ext cx="8426824" cy="492708"/>
          </a:xfrm>
          <a:prstGeom prst="rect">
            <a:avLst/>
          </a:prstGeom>
          <a:solidFill>
            <a:srgbClr val="AD1164">
              <a:alpha val="1215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4948" y="2008147"/>
            <a:ext cx="3974353" cy="3432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6031" y="2008147"/>
            <a:ext cx="1895584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200" spc="71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ИНТЕРФЕЙСНЫЙ СЛОЙ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6031" y="2202032"/>
            <a:ext cx="375327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(</a:t>
            </a:r>
            <a:r>
              <a:rPr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066" y="2114019"/>
            <a:ext cx="161317" cy="16131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698595" y="2008147"/>
            <a:ext cx="3974353" cy="3432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919678" y="2008147"/>
            <a:ext cx="1895584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200" spc="71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ИНТЕРФЕЙСНЫЙ СЛОЙ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678" y="2202032"/>
            <a:ext cx="375327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 Dashboard (React + MUI)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8713" y="2114019"/>
            <a:ext cx="161317" cy="16131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95536" y="2708128"/>
            <a:ext cx="8426824" cy="8064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95537" y="2708128"/>
            <a:ext cx="2743806" cy="806473"/>
          </a:xfrm>
          <a:prstGeom prst="rect">
            <a:avLst/>
          </a:prstGeom>
          <a:solidFill>
            <a:srgbClr val="AD1164">
              <a:alpha val="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15066" y="2812717"/>
            <a:ext cx="2504747" cy="5972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8054" y="2812717"/>
            <a:ext cx="1674946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200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МОДУЛЬ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054" y="3006602"/>
            <a:ext cx="2271758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drift_detection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054" y="3230719"/>
            <a:ext cx="2271758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PSI / KS / χ²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066" y="2812716"/>
            <a:ext cx="143341" cy="14334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199108" y="2708128"/>
            <a:ext cx="2743806" cy="806473"/>
          </a:xfrm>
          <a:prstGeom prst="rect">
            <a:avLst/>
          </a:prstGeom>
          <a:solidFill>
            <a:srgbClr val="AD1164">
              <a:alpha val="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318637" y="2812717"/>
            <a:ext cx="2504747" cy="5972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51626" y="2812717"/>
            <a:ext cx="1674946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200" spc="71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МОДУЛЬ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51626" y="3006602"/>
            <a:ext cx="2271758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1626" y="3230719"/>
            <a:ext cx="2271758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 · Policy · Actions · Store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8637" y="2812716"/>
            <a:ext cx="143341" cy="143341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002680" y="2708128"/>
            <a:ext cx="2743806" cy="806473"/>
          </a:xfrm>
          <a:prstGeom prst="rect">
            <a:avLst/>
          </a:prstGeom>
          <a:solidFill>
            <a:srgbClr val="AD1164">
              <a:alpha val="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122209" y="2812717"/>
            <a:ext cx="2504747" cy="5972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355198" y="2812717"/>
            <a:ext cx="1674946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200" spc="71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МОДУЛЬ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198" y="3006602"/>
            <a:ext cx="2271758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retraining pipeline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198" y="3230719"/>
            <a:ext cx="2271758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· Evaluate · Promote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2208" y="2812716"/>
            <a:ext cx="143341" cy="143341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95536" y="3807990"/>
            <a:ext cx="8426824" cy="80647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95537" y="3807990"/>
            <a:ext cx="3275152" cy="8064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15066" y="3912579"/>
            <a:ext cx="3036093" cy="5972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6148" y="3912578"/>
            <a:ext cx="2446695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200" spc="71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ВСПОМОГАТЕЛЬНЫЙ МОДУЛЬ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6148" y="4106463"/>
            <a:ext cx="2815011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lifecycle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148" y="4330580"/>
            <a:ext cx="2815011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Стадии · Реестр моделей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066" y="3912578"/>
            <a:ext cx="131435" cy="131435"/>
          </a:xfrm>
          <a:prstGeom prst="rect">
            <a:avLst/>
          </a:prstGeom>
        </p:spPr>
      </p:pic>
      <p:sp>
        <p:nvSpPr>
          <p:cNvPr id="41" name="Rectangle 40"/>
          <p:cNvSpPr/>
          <p:nvPr/>
        </p:nvSpPr>
        <p:spPr>
          <a:xfrm>
            <a:off x="3730454" y="3807990"/>
            <a:ext cx="3275152" cy="8064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3849983" y="3912579"/>
            <a:ext cx="3036093" cy="5972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071066" y="3912578"/>
            <a:ext cx="2446695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200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ВСПОМОГАТЕЛЬНЫЙ МОДУЛЬ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71066" y="4106463"/>
            <a:ext cx="2815011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 dirty="0" err="1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data_management</a:t>
            </a:r>
            <a:endParaRPr sz="1200" dirty="0">
              <a:solidFill>
                <a:srgbClr val="3C022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071066" y="4330580"/>
            <a:ext cx="2815011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Датасеты · Базовые линии · Провенанс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49983" y="3912578"/>
            <a:ext cx="131435" cy="131435"/>
          </a:xfrm>
          <a:prstGeom prst="rect">
            <a:avLst/>
          </a:prstGeom>
        </p:spPr>
      </p:pic>
      <p:sp>
        <p:nvSpPr>
          <p:cNvPr id="47" name="Rectangle 46"/>
          <p:cNvSpPr/>
          <p:nvPr/>
        </p:nvSpPr>
        <p:spPr>
          <a:xfrm>
            <a:off x="7065371" y="3807990"/>
            <a:ext cx="1757105" cy="806473"/>
          </a:xfrm>
          <a:prstGeom prst="rect">
            <a:avLst/>
          </a:prstGeom>
          <a:solidFill>
            <a:srgbClr val="AD1164">
              <a:alpha val="58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7184901" y="3912579"/>
            <a:ext cx="1518046" cy="5972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405983" y="3912578"/>
            <a:ext cx="1054519" cy="11541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/>
          <a:p>
            <a:pPr>
              <a:lnSpc>
                <a:spcPts val="939"/>
              </a:lnSpc>
            </a:pPr>
            <a:r>
              <a:rPr sz="1200" spc="71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ХРАНИЛИЩЕ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05983" y="4106463"/>
            <a:ext cx="1296964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05983" y="4330580"/>
            <a:ext cx="1296964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базы данных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4900" y="3912578"/>
            <a:ext cx="131435" cy="131435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95536" y="4719051"/>
            <a:ext cx="8426824" cy="381000"/>
          </a:xfrm>
          <a:prstGeom prst="roundRect">
            <a:avLst>
              <a:gd name="adj" fmla="val 15686"/>
            </a:avLst>
          </a:prstGeom>
          <a:solidFill>
            <a:srgbClr val="AD1164">
              <a:alpha val="5882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t"/>
          <a:lstStyle/>
          <a:p>
            <a:pPr>
              <a:lnSpc>
                <a:spcPts val="1588"/>
              </a:lnSpc>
            </a:pPr>
            <a:r>
              <a:rPr sz="1200" b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технологий:</a:t>
            </a:r>
            <a:r>
              <a:rPr sz="12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3.11 · FastAPI · scikit-learn · SQLite · React · MUI · Docker Compose</a:t>
            </a:r>
          </a:p>
        </p:txBody>
      </p:sp>
    </p:spTree>
    <p:extLst>
      <p:ext uri="{BB962C8B-B14F-4D97-AF65-F5344CB8AC3E}">
        <p14:creationId xmlns:p14="http://schemas.microsoft.com/office/powerpoint/2010/main" val="240946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57076"/>
            <a:ext cx="9144000" cy="5045542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3" name="Rectangle 2"/>
          <p:cNvSpPr/>
          <p:nvPr/>
        </p:nvSpPr>
        <p:spPr>
          <a:xfrm>
            <a:off x="0" y="855383"/>
            <a:ext cx="9144000" cy="51472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4" name="Rounded Rectangle 3"/>
          <p:cNvSpPr/>
          <p:nvPr/>
        </p:nvSpPr>
        <p:spPr>
          <a:xfrm>
            <a:off x="358588" y="1213971"/>
            <a:ext cx="8426824" cy="298824"/>
          </a:xfrm>
          <a:prstGeom prst="roundRect">
            <a:avLst>
              <a:gd name="adj" fmla="val 2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2118"/>
              </a:lnSpc>
            </a:pP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Политика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срабатывания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жизненный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цикл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моделей</a:t>
            </a:r>
            <a:endParaRPr spc="-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8588" y="1662206"/>
            <a:ext cx="8426824" cy="39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6" name="Rectangle 5"/>
          <p:cNvSpPr/>
          <p:nvPr/>
        </p:nvSpPr>
        <p:spPr>
          <a:xfrm>
            <a:off x="358588" y="1662206"/>
            <a:ext cx="4153647" cy="3981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7" name="Rounded Rectangle 6"/>
          <p:cNvSpPr/>
          <p:nvPr/>
        </p:nvSpPr>
        <p:spPr>
          <a:xfrm>
            <a:off x="567765" y="1751854"/>
            <a:ext cx="1483955" cy="253649"/>
          </a:xfrm>
          <a:prstGeom prst="roundRect">
            <a:avLst>
              <a:gd name="adj" fmla="val 23561"/>
            </a:avLst>
          </a:prstGeom>
          <a:solidFill>
            <a:srgbClr val="F7E3E8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706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DRIFTTHRESHOLDPOLICY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567765" y="2095150"/>
            <a:ext cx="3735294" cy="4180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7765" y="2095150"/>
            <a:ext cx="3735294" cy="166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292"/>
              </a:lnSpc>
            </a:pPr>
            <a:r>
              <a:rPr sz="1200" spc="-31">
                <a:latin typeface="Times New Roman" panose="02020603050405020304" pitchFamily="18" charset="0"/>
                <a:cs typeface="Times New Roman" panose="02020603050405020304" pitchFamily="18" charset="0"/>
              </a:rPr>
              <a:t>n_features_high_psi &gt;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765" y="2333859"/>
            <a:ext cx="3735294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Любая фича с высоким PSI вызывает триггер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7765" y="2692448"/>
            <a:ext cx="3735294" cy="4180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7765" y="2692447"/>
            <a:ext cx="3735294" cy="166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292"/>
              </a:lnSpc>
            </a:pPr>
            <a:r>
              <a:rPr sz="1200" spc="-31">
                <a:latin typeface="Times New Roman" panose="02020603050405020304" pitchFamily="18" charset="0"/>
                <a:cs typeface="Times New Roman" panose="02020603050405020304" pitchFamily="18" charset="0"/>
              </a:rPr>
              <a:t>n_numeric_ks_significant &gt;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7765" y="2931155"/>
            <a:ext cx="3735294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Допускаем ~2 KS ложноположительных (α=0.05)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7765" y="3289744"/>
            <a:ext cx="3735294" cy="4180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7765" y="3289743"/>
            <a:ext cx="3735294" cy="166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292"/>
              </a:lnSpc>
            </a:pPr>
            <a:r>
              <a:rPr sz="1200" spc="-31">
                <a:latin typeface="Times New Roman" panose="02020603050405020304" pitchFamily="18" charset="0"/>
                <a:cs typeface="Times New Roman" panose="02020603050405020304" pitchFamily="18" charset="0"/>
              </a:rPr>
              <a:t>n_categorical_chi2_significant &gt;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765" y="3528452"/>
            <a:ext cx="3735294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Допускаем ~3 χ² ложноположительных (α=0.05)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7764" y="3859318"/>
            <a:ext cx="3068132" cy="271300"/>
          </a:xfrm>
          <a:prstGeom prst="roundRect">
            <a:avLst>
              <a:gd name="adj" fmla="val 23561"/>
            </a:avLst>
          </a:prstGeom>
          <a:solidFill>
            <a:srgbClr val="FDF0E3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1200" spc="7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ЦЕПОЧКА ДЕЙСТВИЙ ПРИ ТРИГГЕРЕ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7765" y="4280029"/>
            <a:ext cx="3735294" cy="3884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765" y="4280029"/>
            <a:ext cx="149412" cy="149412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836706" y="4280029"/>
            <a:ext cx="0" cy="388471"/>
          </a:xfrm>
          <a:prstGeom prst="line">
            <a:avLst/>
          </a:prstGeom>
          <a:ln w="12700">
            <a:solidFill>
              <a:srgbClr val="3C0221">
                <a:alpha val="72156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963706" y="4280029"/>
            <a:ext cx="3339353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LogAction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3706" y="4489205"/>
            <a:ext cx="3339353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Запись события в artifacts/orchestration.db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7765" y="4668499"/>
            <a:ext cx="3735294" cy="3884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765" y="4668499"/>
            <a:ext cx="149412" cy="149412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836706" y="4668499"/>
            <a:ext cx="0" cy="388471"/>
          </a:xfrm>
          <a:prstGeom prst="line">
            <a:avLst/>
          </a:prstGeom>
          <a:ln w="12700">
            <a:solidFill>
              <a:srgbClr val="3C0221">
                <a:alpha val="72156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63706" y="4668500"/>
            <a:ext cx="3339353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WebhookAlertAction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3706" y="4877676"/>
            <a:ext cx="3339353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Отправка уведомления во внешние системы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7765" y="5056970"/>
            <a:ext cx="3735294" cy="3884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765" y="5056970"/>
            <a:ext cx="149412" cy="149412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836706" y="5056970"/>
            <a:ext cx="0" cy="388471"/>
          </a:xfrm>
          <a:prstGeom prst="line">
            <a:avLst/>
          </a:prstGeom>
          <a:ln w="12700">
            <a:solidFill>
              <a:srgbClr val="3C0221">
                <a:alpha val="72156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63706" y="5056970"/>
            <a:ext cx="3339353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RetrainPipelineAction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706" y="5266146"/>
            <a:ext cx="3339353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пайплайна переобучения модели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31765" y="1662206"/>
            <a:ext cx="4153647" cy="3981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34" name="Rounded Rectangle 33"/>
          <p:cNvSpPr/>
          <p:nvPr/>
        </p:nvSpPr>
        <p:spPr>
          <a:xfrm>
            <a:off x="4840941" y="1751854"/>
            <a:ext cx="1674929" cy="253649"/>
          </a:xfrm>
          <a:prstGeom prst="roundRect">
            <a:avLst>
              <a:gd name="adj" fmla="val 23561"/>
            </a:avLst>
          </a:prstGeom>
          <a:solidFill>
            <a:srgbClr val="FEF8F5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706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ЖИЗНЕННЫЙ ЦИКЛ МОДЕЛИ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840941" y="2311797"/>
            <a:ext cx="3735294" cy="0"/>
          </a:xfrm>
          <a:prstGeom prst="line">
            <a:avLst/>
          </a:prstGeom>
          <a:ln w="12700">
            <a:solidFill>
              <a:srgbClr val="D8C8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0941" y="2278180"/>
            <a:ext cx="74706" cy="74706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1529" y="2278180"/>
            <a:ext cx="74706" cy="74706"/>
          </a:xfrm>
          <a:prstGeom prst="rect">
            <a:avLst/>
          </a:prstGeom>
        </p:spPr>
      </p:pic>
      <p:cxnSp>
        <p:nvCxnSpPr>
          <p:cNvPr id="38" name="Connector 37"/>
          <p:cNvCxnSpPr/>
          <p:nvPr/>
        </p:nvCxnSpPr>
        <p:spPr>
          <a:xfrm>
            <a:off x="5214471" y="2349150"/>
            <a:ext cx="0" cy="186765"/>
          </a:xfrm>
          <a:prstGeom prst="line">
            <a:avLst/>
          </a:prstGeom>
          <a:ln w="12700">
            <a:solidFill>
              <a:srgbClr val="F3B5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208059" y="2349150"/>
            <a:ext cx="0" cy="186765"/>
          </a:xfrm>
          <a:prstGeom prst="line">
            <a:avLst/>
          </a:prstGeom>
          <a:ln w="12700">
            <a:solidFill>
              <a:srgbClr val="C3B5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201647" y="2349150"/>
            <a:ext cx="0" cy="186765"/>
          </a:xfrm>
          <a:prstGeom prst="line">
            <a:avLst/>
          </a:prstGeom>
          <a:ln w="12700">
            <a:solidFill>
              <a:srgbClr val="84C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195235" y="2349150"/>
            <a:ext cx="0" cy="186765"/>
          </a:xfrm>
          <a:prstGeom prst="line">
            <a:avLst/>
          </a:prstGeom>
          <a:ln w="12700">
            <a:solidFill>
              <a:srgbClr val="AACE9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4840942" y="2535914"/>
            <a:ext cx="754529" cy="4183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40942" y="2655444"/>
            <a:ext cx="754529" cy="3077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176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88323" y="2289385"/>
            <a:ext cx="59765" cy="59765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5834530" y="2535914"/>
            <a:ext cx="754529" cy="4183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834530" y="2655444"/>
            <a:ext cx="754529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176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Staging</a:t>
            </a:r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81911" y="2289385"/>
            <a:ext cx="59765" cy="59765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828118" y="2535914"/>
            <a:ext cx="754529" cy="4183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828118" y="2655444"/>
            <a:ext cx="754529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176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Production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75499" y="2289385"/>
            <a:ext cx="59765" cy="59765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7821706" y="2535914"/>
            <a:ext cx="754529" cy="41835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21706" y="2655444"/>
            <a:ext cx="754529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algn="ctr">
              <a:lnSpc>
                <a:spcPts val="1176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Archived</a:t>
            </a:r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69088" y="2289385"/>
            <a:ext cx="59765" cy="59765"/>
          </a:xfrm>
          <a:prstGeom prst="rect">
            <a:avLst/>
          </a:prstGeom>
        </p:spPr>
      </p:pic>
      <p:sp>
        <p:nvSpPr>
          <p:cNvPr id="54" name="Rounded Rectangle 53"/>
          <p:cNvSpPr/>
          <p:nvPr/>
        </p:nvSpPr>
        <p:spPr>
          <a:xfrm>
            <a:off x="4840942" y="3103678"/>
            <a:ext cx="2179330" cy="253651"/>
          </a:xfrm>
          <a:prstGeom prst="roundRect">
            <a:avLst>
              <a:gd name="adj" fmla="val 23561"/>
            </a:avLst>
          </a:prstGeom>
          <a:solidFill>
            <a:srgbClr val="EAF2E6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1200" spc="7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ПРАВИЛО ПРОДВИЖЕНИЯ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40941" y="3446977"/>
            <a:ext cx="3735294" cy="5972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840941" y="3446976"/>
            <a:ext cx="3735294" cy="166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292"/>
              </a:lnSpc>
            </a:pPr>
            <a:r>
              <a:rPr sz="1200" spc="-31">
                <a:latin typeface="Times New Roman" panose="02020603050405020304" pitchFamily="18" charset="0"/>
                <a:cs typeface="Times New Roman" panose="02020603050405020304" pitchFamily="18" charset="0"/>
              </a:rPr>
              <a:t>Продвижение в production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40941" y="3685684"/>
            <a:ext cx="3735294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macro-F1 новой модели ≥ macro-F1 чемпиона — модель становится production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0941" y="4223567"/>
            <a:ext cx="3735294" cy="77659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840941" y="4223567"/>
            <a:ext cx="3735294" cy="1667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292"/>
              </a:lnSpc>
            </a:pPr>
            <a:r>
              <a:rPr sz="1200" spc="-31">
                <a:latin typeface="Times New Roman" panose="02020603050405020304" pitchFamily="18" charset="0"/>
                <a:cs typeface="Times New Roman" panose="02020603050405020304" pitchFamily="18" charset="0"/>
              </a:rPr>
              <a:t>Безопасность метрики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40941" y="4462276"/>
            <a:ext cx="3735294" cy="5386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200">
                <a:latin typeface="Times New Roman" panose="02020603050405020304" pitchFamily="18" charset="0"/>
                <a:cs typeface="Times New Roman" panose="02020603050405020304" pitchFamily="18" charset="0"/>
              </a:rPr>
              <a:t>Иначе — статус development с пометкой f1_macro_below_champion; production-указатель не меняется</a:t>
            </a:r>
          </a:p>
        </p:txBody>
      </p:sp>
    </p:spTree>
    <p:extLst>
      <p:ext uri="{BB962C8B-B14F-4D97-AF65-F5344CB8AC3E}">
        <p14:creationId xmlns:p14="http://schemas.microsoft.com/office/powerpoint/2010/main" val="3198225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55384"/>
            <a:ext cx="9144000" cy="408641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3" name="Rectangle 2"/>
          <p:cNvSpPr/>
          <p:nvPr/>
        </p:nvSpPr>
        <p:spPr>
          <a:xfrm>
            <a:off x="0" y="855383"/>
            <a:ext cx="9144000" cy="51472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4" name="Rounded Rectangle 3"/>
          <p:cNvSpPr/>
          <p:nvPr/>
        </p:nvSpPr>
        <p:spPr>
          <a:xfrm>
            <a:off x="358588" y="1213971"/>
            <a:ext cx="8426824" cy="298824"/>
          </a:xfrm>
          <a:prstGeom prst="roundRect">
            <a:avLst>
              <a:gd name="adj" fmla="val 2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2118"/>
              </a:lnSpc>
            </a:pP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Эксперименты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Adult Census Income и Credit Card Fraud</a:t>
            </a:r>
          </a:p>
        </p:txBody>
      </p:sp>
      <p:sp>
        <p:nvSpPr>
          <p:cNvPr id="5" name="Rectangle 4"/>
          <p:cNvSpPr/>
          <p:nvPr/>
        </p:nvSpPr>
        <p:spPr>
          <a:xfrm>
            <a:off x="358588" y="1662207"/>
            <a:ext cx="8426824" cy="32795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6" name="Rectangle 5"/>
          <p:cNvSpPr/>
          <p:nvPr/>
        </p:nvSpPr>
        <p:spPr>
          <a:xfrm>
            <a:off x="358588" y="1662207"/>
            <a:ext cx="4138706" cy="3279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7" name="Rounded Rectangle 6"/>
          <p:cNvSpPr/>
          <p:nvPr/>
        </p:nvSpPr>
        <p:spPr>
          <a:xfrm>
            <a:off x="537882" y="2019326"/>
            <a:ext cx="3780118" cy="224118"/>
          </a:xfrm>
          <a:prstGeom prst="roundRect">
            <a:avLst>
              <a:gd name="adj" fmla="val 2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1647"/>
              </a:lnSpc>
            </a:pPr>
            <a:r>
              <a:rPr sz="1412" spc="-56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Adult Census Income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7882" y="2288268"/>
            <a:ext cx="3780118" cy="201706"/>
          </a:xfrm>
          <a:prstGeom prst="roundRect">
            <a:avLst>
              <a:gd name="adj" fmla="val 29629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1588"/>
              </a:lnSpc>
            </a:pP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48 842 </a:t>
            </a:r>
            <a:r>
              <a:rPr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записи</a:t>
            </a: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14 </a:t>
            </a:r>
            <a:r>
              <a:rPr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признаков</a:t>
            </a: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positive class ≈ 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7882" y="2594562"/>
            <a:ext cx="945029" cy="303643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200" spc="7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</a:t>
            </a:r>
            <a:endParaRPr sz="1200" spc="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2911" y="2594562"/>
            <a:ext cx="945029" cy="300693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100" spc="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PSI (</a:t>
            </a:r>
            <a:r>
              <a:rPr sz="1100" spc="7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n_high</a:t>
            </a:r>
            <a:r>
              <a:rPr sz="1100" spc="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7941" y="2594562"/>
            <a:ext cx="945029" cy="303643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100" spc="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KS (</a:t>
            </a:r>
            <a:r>
              <a:rPr sz="1100" spc="7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n_sig</a:t>
            </a:r>
            <a:r>
              <a:rPr sz="1100" spc="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2970" y="2594562"/>
            <a:ext cx="945029" cy="300693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100" spc="7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</a:t>
            </a:r>
            <a:endParaRPr sz="1100" spc="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544" y="2893035"/>
            <a:ext cx="1015368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random_holdout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82911" y="2893035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7941" y="2893035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0–2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2970" y="2893035"/>
            <a:ext cx="945029" cy="348783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сработал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37882" y="3438388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age_shift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82911" y="3438388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1760" y="3438388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2970" y="3438388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СРАБОТАЛ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46706" y="1662207"/>
            <a:ext cx="4138706" cy="32795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22" name="Rounded Rectangle 21"/>
          <p:cNvSpPr/>
          <p:nvPr/>
        </p:nvSpPr>
        <p:spPr>
          <a:xfrm>
            <a:off x="4826000" y="2019326"/>
            <a:ext cx="3780118" cy="224118"/>
          </a:xfrm>
          <a:prstGeom prst="roundRect">
            <a:avLst>
              <a:gd name="adj" fmla="val 2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1647"/>
              </a:lnSpc>
            </a:pPr>
            <a:r>
              <a:rPr sz="1412" spc="-56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Credit Card Fraud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26000" y="2288267"/>
            <a:ext cx="3959412" cy="403412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1588"/>
              </a:lnSpc>
            </a:pPr>
            <a:r>
              <a:rPr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Разбиение</a:t>
            </a: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времени</a:t>
            </a: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D1 / D2 / D3 · 29 </a:t>
            </a:r>
            <a:r>
              <a:rPr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численных</a:t>
            </a:r>
            <a:r>
              <a:rPr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признаков</a:t>
            </a:r>
            <a:endParaRPr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26000" y="2796268"/>
            <a:ext cx="945029" cy="300693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100" spc="7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</a:t>
            </a:r>
            <a:endParaRPr sz="1100" spc="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71029" y="2796268"/>
            <a:ext cx="945029" cy="300693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100" spc="7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n_high_psi</a:t>
            </a:r>
            <a:endParaRPr sz="1100" spc="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16059" y="2796268"/>
            <a:ext cx="945029" cy="300693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100" spc="7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n_ks_sig</a:t>
            </a:r>
            <a:endParaRPr sz="1100" spc="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61088" y="2796268"/>
            <a:ext cx="1015368" cy="29646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100" spc="7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Средний</a:t>
            </a:r>
            <a:r>
              <a:rPr sz="1100" spc="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26000" y="3094741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D1 vs D2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71029" y="3094741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6059" y="3094741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1088" y="3094741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26000" y="3460800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D2 vs D3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1029" y="3460800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6059" y="3460800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1088" y="3460800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6000" y="3826859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D1 vs D3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71029" y="3826859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16059" y="3826859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61088" y="3826859"/>
            <a:ext cx="945029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0.23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8588" y="5061324"/>
            <a:ext cx="8426824" cy="64247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41" name="Rectangle 40"/>
          <p:cNvSpPr/>
          <p:nvPr/>
        </p:nvSpPr>
        <p:spPr>
          <a:xfrm>
            <a:off x="358588" y="5061324"/>
            <a:ext cx="8426824" cy="642471"/>
          </a:xfrm>
          <a:prstGeom prst="rect">
            <a:avLst/>
          </a:prstGeom>
          <a:solidFill>
            <a:srgbClr val="AD1164">
              <a:alpha val="10196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42" name="Rounded Rectangle 41"/>
          <p:cNvSpPr/>
          <p:nvPr/>
        </p:nvSpPr>
        <p:spPr>
          <a:xfrm>
            <a:off x="537883" y="5180853"/>
            <a:ext cx="8068235" cy="403412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>
              <a:lnSpc>
                <a:spcPts val="1588"/>
              </a:lnSpc>
            </a:pPr>
            <a:r>
              <a:rPr sz="1059" b="1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Наблюдение</a:t>
            </a:r>
            <a:r>
              <a:rPr sz="1059" b="1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random_holdout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триггер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срабатывает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счётчики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в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пределах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шума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α=0.05).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Дрейф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монотонно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растёт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увеличением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темпорального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расстояния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PSI 0.11 → 0.16 → 0.23.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37882" y="2893035"/>
            <a:ext cx="3780118" cy="0"/>
          </a:xfrm>
          <a:prstGeom prst="line">
            <a:avLst/>
          </a:prstGeom>
          <a:ln w="12700">
            <a:solidFill>
              <a:srgbClr val="D8C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37882" y="3438388"/>
            <a:ext cx="3780118" cy="0"/>
          </a:xfrm>
          <a:prstGeom prst="line">
            <a:avLst/>
          </a:prstGeom>
          <a:ln w="12700">
            <a:solidFill>
              <a:srgbClr val="D8C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826000" y="3094741"/>
            <a:ext cx="3780118" cy="0"/>
          </a:xfrm>
          <a:prstGeom prst="line">
            <a:avLst/>
          </a:prstGeom>
          <a:ln w="12700">
            <a:solidFill>
              <a:srgbClr val="D8C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826000" y="3460799"/>
            <a:ext cx="3780118" cy="0"/>
          </a:xfrm>
          <a:prstGeom prst="line">
            <a:avLst/>
          </a:prstGeom>
          <a:ln w="12700">
            <a:solidFill>
              <a:srgbClr val="D8C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826000" y="3826858"/>
            <a:ext cx="3780118" cy="0"/>
          </a:xfrm>
          <a:prstGeom prst="line">
            <a:avLst/>
          </a:prstGeom>
          <a:ln w="12700">
            <a:solidFill>
              <a:srgbClr val="D8C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235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0" y="855384"/>
            <a:ext cx="9144000" cy="494988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2" name="Rectangle 1"/>
          <p:cNvSpPr/>
          <p:nvPr/>
        </p:nvSpPr>
        <p:spPr>
          <a:xfrm>
            <a:off x="0" y="855383"/>
            <a:ext cx="9144000" cy="4661849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855383"/>
            <a:ext cx="9144000" cy="514723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4" name="Rounded Rectangle 3"/>
          <p:cNvSpPr/>
          <p:nvPr/>
        </p:nvSpPr>
        <p:spPr>
          <a:xfrm>
            <a:off x="358588" y="1213971"/>
            <a:ext cx="8426824" cy="298824"/>
          </a:xfrm>
          <a:prstGeom prst="roundRect">
            <a:avLst>
              <a:gd name="adj" fmla="val 2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2118"/>
              </a:lnSpc>
            </a:pP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переобучения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дашборда</a:t>
            </a:r>
            <a:endParaRPr spc="-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8588" y="1662206"/>
            <a:ext cx="8426824" cy="19043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6" name="Rectangle 5"/>
          <p:cNvSpPr/>
          <p:nvPr/>
        </p:nvSpPr>
        <p:spPr>
          <a:xfrm>
            <a:off x="358588" y="1662206"/>
            <a:ext cx="3367718" cy="1904300"/>
          </a:xfrm>
          <a:prstGeom prst="rect">
            <a:avLst/>
          </a:prstGeom>
          <a:solidFill>
            <a:srgbClr val="AD1164">
              <a:alpha val="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7" name="Rounded Rectangle 6"/>
          <p:cNvSpPr/>
          <p:nvPr/>
        </p:nvSpPr>
        <p:spPr>
          <a:xfrm>
            <a:off x="537883" y="2106473"/>
            <a:ext cx="1379140" cy="253649"/>
          </a:xfrm>
          <a:prstGeom prst="roundRect">
            <a:avLst>
              <a:gd name="adj" fmla="val 23561"/>
            </a:avLst>
          </a:prstGeom>
          <a:solidFill>
            <a:srgbClr val="F7E3E8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706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КЛЮЧЕВОЙ РЕЗУЛЬТАТ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7883" y="2434828"/>
            <a:ext cx="3009129" cy="224118"/>
          </a:xfrm>
          <a:prstGeom prst="roundRect">
            <a:avLst>
              <a:gd name="adj" fmla="val 26666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1647"/>
              </a:lnSpc>
            </a:pPr>
            <a:r>
              <a:rPr sz="1412" b="1" spc="-56" dirty="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PR-AUC +0.137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7883" y="2718710"/>
            <a:ext cx="3009129" cy="403412"/>
          </a:xfrm>
          <a:prstGeom prst="roundRect">
            <a:avLst>
              <a:gd name="adj" fmla="val 14814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1588"/>
              </a:lnSpc>
            </a:pPr>
            <a:r>
              <a:rPr sz="11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Переобучение</a:t>
            </a:r>
            <a:r>
              <a:rPr sz="11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1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D2 </a:t>
            </a:r>
            <a:r>
              <a:rPr sz="11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улучшило</a:t>
            </a:r>
            <a:r>
              <a:rPr sz="11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метрику</a:t>
            </a:r>
            <a:r>
              <a:rPr sz="11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1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тестовом</a:t>
            </a:r>
            <a:r>
              <a:rPr sz="11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 err="1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периоде</a:t>
            </a:r>
            <a:r>
              <a:rPr sz="11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D3: </a:t>
            </a:r>
            <a:r>
              <a:rPr sz="1100" b="1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0.609 → 0.746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75718" y="1662206"/>
            <a:ext cx="4909693" cy="19043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11" name="Rounded Rectangle 10"/>
          <p:cNvSpPr/>
          <p:nvPr/>
        </p:nvSpPr>
        <p:spPr>
          <a:xfrm>
            <a:off x="3875718" y="1662207"/>
            <a:ext cx="2535564" cy="253649"/>
          </a:xfrm>
          <a:prstGeom prst="roundRect">
            <a:avLst>
              <a:gd name="adj" fmla="val 23561"/>
            </a:avLst>
          </a:prstGeom>
          <a:solidFill>
            <a:srgbClr val="FEF8F5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706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МОДЕЛЕЙ — CREDIT CARD FRAUD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75718" y="1990562"/>
            <a:ext cx="1227394" cy="297680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000" spc="7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Обучение</a:t>
            </a:r>
            <a:r>
              <a:rPr sz="1000" spc="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000" spc="7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Тест</a:t>
            </a:r>
            <a:endParaRPr sz="1000" spc="7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03112" y="1990562"/>
            <a:ext cx="1227394" cy="300693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100" spc="71" dirty="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ROC-AUC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0506" y="1990562"/>
            <a:ext cx="1227394" cy="29646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000" spc="7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901" y="1990562"/>
            <a:ext cx="1227394" cy="29646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939"/>
              </a:lnSpc>
            </a:pPr>
            <a:r>
              <a:rPr sz="1000" spc="71" dirty="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75718" y="2289036"/>
            <a:ext cx="1227394" cy="343205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 → D2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3112" y="2289036"/>
            <a:ext cx="1227394" cy="344936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0506" y="2289036"/>
            <a:ext cx="1227394" cy="343205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7901" y="2289036"/>
            <a:ext cx="1227394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0.784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75718" y="2655095"/>
            <a:ext cx="1227394" cy="343205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 → D3 (baseline)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3112" y="2655095"/>
            <a:ext cx="1227394" cy="344936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0506" y="2655095"/>
            <a:ext cx="1227394" cy="343975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0.609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7901" y="2655095"/>
            <a:ext cx="1227394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941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75718" y="3021153"/>
            <a:ext cx="1227394" cy="540118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D1+D2 → D3 (adapted)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03112" y="3021153"/>
            <a:ext cx="1227394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b="1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0.978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0506" y="3021153"/>
            <a:ext cx="1227394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b="1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0.746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7901" y="3021153"/>
            <a:ext cx="1227394" cy="360581"/>
          </a:xfrm>
          <a:prstGeom prst="rect">
            <a:avLst/>
          </a:prstGeom>
          <a:noFill/>
          <a:ln>
            <a:noFill/>
          </a:ln>
        </p:spPr>
        <p:txBody>
          <a:bodyPr wrap="square" lIns="0" tIns="89647" rIns="89647" bIns="89647">
            <a:spAutoFit/>
          </a:bodyPr>
          <a:lstStyle/>
          <a:p>
            <a:pPr>
              <a:lnSpc>
                <a:spcPts val="1412"/>
              </a:lnSpc>
            </a:pPr>
            <a:r>
              <a:rPr sz="1000" b="1" dirty="0">
                <a:solidFill>
                  <a:schemeClr val="tx1">
                    <a:alpha val="72156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0.877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8588" y="3905543"/>
            <a:ext cx="1149070" cy="253649"/>
          </a:xfrm>
          <a:prstGeom prst="roundRect">
            <a:avLst>
              <a:gd name="adj" fmla="val 23561"/>
            </a:avLst>
          </a:prstGeom>
          <a:solidFill>
            <a:srgbClr val="FEF8F5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706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 ПЛАТФОРМЫ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8588" y="4074156"/>
            <a:ext cx="2106706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cxnSp>
        <p:nvCxnSpPr>
          <p:cNvPr id="30" name="Connector 29"/>
          <p:cNvCxnSpPr/>
          <p:nvPr/>
        </p:nvCxnSpPr>
        <p:spPr>
          <a:xfrm>
            <a:off x="358588" y="4343096"/>
            <a:ext cx="2106706" cy="0"/>
          </a:xfrm>
          <a:prstGeom prst="line">
            <a:avLst/>
          </a:prstGeom>
          <a:ln w="12700">
            <a:solidFill>
              <a:srgbClr val="3C0221">
                <a:alpha val="72156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58588" y="4470097"/>
            <a:ext cx="1807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8588" y="4679273"/>
            <a:ext cx="1807882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KPI,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дрейфа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ручной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</a:t>
            </a:r>
            <a:r>
              <a:rPr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проверок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2465294" y="4074156"/>
            <a:ext cx="2106706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cxnSp>
        <p:nvCxnSpPr>
          <p:cNvPr id="34" name="Connector 33"/>
          <p:cNvCxnSpPr/>
          <p:nvPr/>
        </p:nvCxnSpPr>
        <p:spPr>
          <a:xfrm>
            <a:off x="2465294" y="4343096"/>
            <a:ext cx="2106706" cy="0"/>
          </a:xfrm>
          <a:prstGeom prst="line">
            <a:avLst/>
          </a:prstGeom>
          <a:ln w="12700">
            <a:solidFill>
              <a:srgbClr val="3C0221">
                <a:alpha val="72156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2465294" y="4470097"/>
            <a:ext cx="1807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65294" y="4679273"/>
            <a:ext cx="1807882" cy="5386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Журнал runs, статус triggered/ok, причины срабатывания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4074156"/>
            <a:ext cx="2106706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cxnSp>
        <p:nvCxnSpPr>
          <p:cNvPr id="38" name="Connector 37"/>
          <p:cNvCxnSpPr/>
          <p:nvPr/>
        </p:nvCxnSpPr>
        <p:spPr>
          <a:xfrm>
            <a:off x="4572000" y="4343096"/>
            <a:ext cx="2106706" cy="0"/>
          </a:xfrm>
          <a:prstGeom prst="line">
            <a:avLst/>
          </a:prstGeom>
          <a:ln w="12700">
            <a:solidFill>
              <a:srgbClr val="3C0221">
                <a:alpha val="72156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4572000" y="4470097"/>
            <a:ext cx="1807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679273"/>
            <a:ext cx="1807882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Реестр по этапам, Trigger Retraining и Promote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8706" y="4074156"/>
            <a:ext cx="2106706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cxnSp>
        <p:nvCxnSpPr>
          <p:cNvPr id="42" name="Connector 41"/>
          <p:cNvCxnSpPr/>
          <p:nvPr/>
        </p:nvCxnSpPr>
        <p:spPr>
          <a:xfrm>
            <a:off x="6678706" y="4343096"/>
            <a:ext cx="2106706" cy="0"/>
          </a:xfrm>
          <a:prstGeom prst="line">
            <a:avLst/>
          </a:prstGeom>
          <a:ln w="12700">
            <a:solidFill>
              <a:srgbClr val="3C0221">
                <a:alpha val="72156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678706" y="4470097"/>
            <a:ext cx="180788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Inference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8706" y="4679273"/>
            <a:ext cx="1807882" cy="53860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100">
                <a:latin typeface="Times New Roman" panose="02020603050405020304" pitchFamily="18" charset="0"/>
                <a:cs typeface="Times New Roman" panose="02020603050405020304" pitchFamily="18" charset="0"/>
              </a:rPr>
              <a:t>Playground: профиль, JSON-ввод, результат с вероятностью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3875718" y="2289035"/>
            <a:ext cx="4909577" cy="0"/>
          </a:xfrm>
          <a:prstGeom prst="line">
            <a:avLst/>
          </a:prstGeom>
          <a:ln w="12700">
            <a:solidFill>
              <a:srgbClr val="D8C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875718" y="2655094"/>
            <a:ext cx="4909577" cy="0"/>
          </a:xfrm>
          <a:prstGeom prst="line">
            <a:avLst/>
          </a:prstGeom>
          <a:ln w="12700">
            <a:solidFill>
              <a:srgbClr val="D8C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3875718" y="3021153"/>
            <a:ext cx="4909577" cy="0"/>
          </a:xfrm>
          <a:prstGeom prst="line">
            <a:avLst/>
          </a:prstGeom>
          <a:ln w="12700">
            <a:solidFill>
              <a:srgbClr val="D8CC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140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855383"/>
            <a:ext cx="9144000" cy="4519355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5" name="Rounded Rectangle 4"/>
          <p:cNvSpPr/>
          <p:nvPr/>
        </p:nvSpPr>
        <p:spPr>
          <a:xfrm>
            <a:off x="358588" y="1213971"/>
            <a:ext cx="8426824" cy="298824"/>
          </a:xfrm>
          <a:prstGeom prst="roundRect">
            <a:avLst>
              <a:gd name="adj" fmla="val 20000"/>
            </a:avLst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/>
          <a:lstStyle/>
          <a:p>
            <a:pPr>
              <a:lnSpc>
                <a:spcPts val="2118"/>
              </a:lnSpc>
            </a:pP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Вклад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направления</a:t>
            </a:r>
            <a:r>
              <a:rPr spc="-7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pc="-75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развития</a:t>
            </a:r>
            <a:endParaRPr spc="-7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8588" y="1692089"/>
            <a:ext cx="8426824" cy="380217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7" name="Rectangle 6"/>
          <p:cNvSpPr/>
          <p:nvPr/>
        </p:nvSpPr>
        <p:spPr>
          <a:xfrm>
            <a:off x="358588" y="1692089"/>
            <a:ext cx="2725247" cy="38021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8" name="Rounded Rectangle 7"/>
          <p:cNvSpPr/>
          <p:nvPr/>
        </p:nvSpPr>
        <p:spPr>
          <a:xfrm>
            <a:off x="537882" y="1871383"/>
            <a:ext cx="1236863" cy="253649"/>
          </a:xfrm>
          <a:prstGeom prst="roundRect">
            <a:avLst>
              <a:gd name="adj" fmla="val 23561"/>
            </a:avLst>
          </a:prstGeom>
          <a:solidFill>
            <a:srgbClr val="F7E3E8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1000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ВКЛАД РАБОТЫ</a:t>
            </a:r>
          </a:p>
        </p:txBody>
      </p:sp>
      <p:sp>
        <p:nvSpPr>
          <p:cNvPr id="9" name="Rectangle 8"/>
          <p:cNvSpPr/>
          <p:nvPr/>
        </p:nvSpPr>
        <p:spPr>
          <a:xfrm>
            <a:off x="537882" y="2244562"/>
            <a:ext cx="2366659" cy="679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8965" y="2244562"/>
            <a:ext cx="2145576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0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Интегрированный MLOps-контур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65" y="2468680"/>
            <a:ext cx="2145576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0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drift → decision → retrain → lifecycle → inference в </a:t>
            </a:r>
            <a:r>
              <a:rPr sz="10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одной</a:t>
            </a:r>
            <a:r>
              <a:rPr sz="1000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00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системе</a:t>
            </a:r>
            <a:endParaRPr sz="1000" dirty="0">
              <a:solidFill>
                <a:srgbClr val="3C0221">
                  <a:alpha val="72156"/>
                </a:srgb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83" y="2244562"/>
            <a:ext cx="131435" cy="13143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37882" y="3014032"/>
            <a:ext cx="2366659" cy="679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65" y="3014032"/>
            <a:ext cx="2145576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0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Два домена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65" y="3238150"/>
            <a:ext cx="2145576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0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для Adult и Fraud temporal датасетов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883" y="3014032"/>
            <a:ext cx="131435" cy="13143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37882" y="3783503"/>
            <a:ext cx="2366659" cy="859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8965" y="3783503"/>
            <a:ext cx="2145576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0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Прослеживаемость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65" y="4007621"/>
            <a:ext cx="2145576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0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Provenance связывает датасет, baseline, эксперимент и версию модели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883" y="3783503"/>
            <a:ext cx="131435" cy="13143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537882" y="4732267"/>
            <a:ext cx="2366659" cy="5827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58965" y="4732268"/>
            <a:ext cx="2145576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0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Открытая платформа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65" y="4956385"/>
            <a:ext cx="2145576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0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Воспроизводимо: Docker Compose, SQLite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883" y="4732268"/>
            <a:ext cx="131435" cy="131435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3173482" y="1572560"/>
            <a:ext cx="2725247" cy="38021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26" name="Rounded Rectangle 25"/>
          <p:cNvSpPr/>
          <p:nvPr/>
        </p:nvSpPr>
        <p:spPr>
          <a:xfrm>
            <a:off x="3352776" y="1871383"/>
            <a:ext cx="1147216" cy="253649"/>
          </a:xfrm>
          <a:prstGeom prst="roundRect">
            <a:avLst>
              <a:gd name="adj" fmla="val 23561"/>
            </a:avLst>
          </a:prstGeom>
          <a:solidFill>
            <a:srgbClr val="FDF0E3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1000" spc="71" dirty="0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2776" y="2244562"/>
            <a:ext cx="2366659" cy="679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73859" y="2244562"/>
            <a:ext cx="2145576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0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Демо-датасеты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73859" y="2468679"/>
            <a:ext cx="2145576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0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Эвристические пороги принятия решений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52777" y="2244562"/>
            <a:ext cx="131435" cy="131435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352776" y="3014033"/>
            <a:ext cx="2366659" cy="5005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73859" y="3014032"/>
            <a:ext cx="2145576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0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Нет enterprise-аутентификации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73859" y="3238150"/>
            <a:ext cx="2145576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0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Отсутствует RBAC, SSO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2777" y="3014032"/>
            <a:ext cx="131435" cy="131435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3352776" y="3604209"/>
            <a:ext cx="2366659" cy="403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573859" y="3604209"/>
            <a:ext cx="2145576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0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Single-host развёртывание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73859" y="3828326"/>
            <a:ext cx="2145576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0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Compose, без Kubernetes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2777" y="3604209"/>
            <a:ext cx="131435" cy="131435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5988376" y="1646410"/>
            <a:ext cx="2797035" cy="38021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40" name="Rounded Rectangle 39"/>
          <p:cNvSpPr/>
          <p:nvPr/>
        </p:nvSpPr>
        <p:spPr>
          <a:xfrm>
            <a:off x="6167671" y="1871383"/>
            <a:ext cx="1860713" cy="253649"/>
          </a:xfrm>
          <a:prstGeom prst="roundRect">
            <a:avLst>
              <a:gd name="adj" fmla="val 23561"/>
            </a:avLst>
          </a:prstGeom>
          <a:solidFill>
            <a:srgbClr val="EAF2E6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>
              <a:lnSpc>
                <a:spcPts val="939"/>
              </a:lnSpc>
            </a:pPr>
            <a:r>
              <a:rPr sz="1000" spc="71">
                <a:solidFill>
                  <a:srgbClr val="910E5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РАЗВИТИЕ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67671" y="2244562"/>
            <a:ext cx="2438446" cy="50052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88753" y="2244562"/>
            <a:ext cx="2217364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0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Quality gates в production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8753" y="2468679"/>
            <a:ext cx="2217364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0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A/B тесты, shadow и canary deploy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67671" y="2244562"/>
            <a:ext cx="131435" cy="131435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6167671" y="2834738"/>
            <a:ext cx="2438446" cy="679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388753" y="2834738"/>
            <a:ext cx="2217364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0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Обучаемые политики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8753" y="3058855"/>
            <a:ext cx="2217364" cy="1795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0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Расширение комбинаций переобучения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67671" y="2834738"/>
            <a:ext cx="131435" cy="131435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6167671" y="3604209"/>
            <a:ext cx="2438446" cy="58270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388753" y="3604209"/>
            <a:ext cx="2217364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176"/>
              </a:lnSpc>
            </a:pPr>
            <a:r>
              <a:rPr sz="1000">
                <a:solidFill>
                  <a:srgbClr val="3C02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Оповещения и эмбеддинги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8753" y="3828327"/>
            <a:ext cx="2217364" cy="35907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>
              <a:lnSpc>
                <a:spcPts val="1412"/>
              </a:lnSpc>
            </a:pPr>
            <a:r>
              <a:rPr sz="100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Slack / email; дрейф эмбеддингов для не-табличных данных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67671" y="3604209"/>
            <a:ext cx="131435" cy="131435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358588" y="5613797"/>
            <a:ext cx="8426824" cy="381000"/>
          </a:xfrm>
          <a:prstGeom prst="roundRect">
            <a:avLst>
              <a:gd name="adj" fmla="val 15686"/>
            </a:avLst>
          </a:prstGeom>
          <a:solidFill>
            <a:srgbClr val="AD1164">
              <a:alpha val="7843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9647" tIns="89647" rIns="89647" bIns="89647" rtlCol="0" anchor="ctr"/>
          <a:lstStyle/>
          <a:p>
            <a:pPr algn="ctr">
              <a:lnSpc>
                <a:spcPts val="1588"/>
              </a:lnSpc>
            </a:pPr>
            <a:r>
              <a:rPr sz="1059" b="1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</a:t>
            </a:r>
            <a:r>
              <a:rPr sz="1059" b="1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b="1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</a:t>
            </a:r>
            <a:r>
              <a:rPr sz="1059" b="1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59" b="1" dirty="0" err="1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внимание</a:t>
            </a:r>
            <a:r>
              <a:rPr sz="1059" b="1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r>
              <a:rPr sz="1059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· GitHub: https://github.com/Jordy-20035/ai-reliability-dashboard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37882" y="2924385"/>
            <a:ext cx="2366659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52776" y="2924385"/>
            <a:ext cx="2366659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7882" y="3693856"/>
            <a:ext cx="2366659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37882" y="4642620"/>
            <a:ext cx="2366659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3352776" y="3514562"/>
            <a:ext cx="2366659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6167671" y="3514562"/>
            <a:ext cx="2438447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6167671" y="2745091"/>
            <a:ext cx="2438447" cy="0"/>
          </a:xfrm>
          <a:prstGeom prst="line">
            <a:avLst/>
          </a:prstGeom>
          <a:ln w="12700">
            <a:solidFill>
              <a:srgbClr val="1E1E1E">
                <a:alpha val="1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254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/>
          <p:cNvSpPr/>
          <p:nvPr/>
        </p:nvSpPr>
        <p:spPr>
          <a:xfrm>
            <a:off x="0" y="855384"/>
            <a:ext cx="9144000" cy="4805864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6" name="Rectangle 5"/>
          <p:cNvSpPr/>
          <p:nvPr/>
        </p:nvSpPr>
        <p:spPr>
          <a:xfrm>
            <a:off x="358588" y="1692089"/>
            <a:ext cx="8426824" cy="380217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412"/>
          </a:p>
        </p:txBody>
      </p:sp>
      <p:sp>
        <p:nvSpPr>
          <p:cNvPr id="8" name="Rounded Rectangle 7"/>
          <p:cNvSpPr/>
          <p:nvPr/>
        </p:nvSpPr>
        <p:spPr>
          <a:xfrm>
            <a:off x="3167635" y="2924386"/>
            <a:ext cx="2808730" cy="487423"/>
          </a:xfrm>
          <a:prstGeom prst="roundRect">
            <a:avLst>
              <a:gd name="adj" fmla="val 23561"/>
            </a:avLst>
          </a:prstGeom>
          <a:solidFill>
            <a:srgbClr val="F7E3E8"/>
          </a:solidFill>
          <a:ln w="9525">
            <a:solidFill>
              <a:srgbClr val="3C0221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59765" tIns="59765" rIns="59765" bIns="59765" rtlCol="0" anchor="ctr"/>
          <a:lstStyle/>
          <a:p>
            <a:pPr algn="ctr">
              <a:lnSpc>
                <a:spcPts val="939"/>
              </a:lnSpc>
            </a:pPr>
            <a:r>
              <a:rPr lang="ru-RU" b="1" dirty="0">
                <a:solidFill>
                  <a:srgbClr val="3C0221">
                    <a:alpha val="72156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  <a:endParaRPr spc="71" dirty="0">
              <a:solidFill>
                <a:srgbClr val="910E5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37882" y="2244562"/>
            <a:ext cx="2366659" cy="679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652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</TotalTime>
  <Words>1267</Words>
  <Application>Microsoft Office PowerPoint</Application>
  <PresentationFormat>Affichage à l'écran (4:3)</PresentationFormat>
  <Paragraphs>291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Тема Office</vt:lpstr>
      <vt:lpstr>ВЫПУСКНАЯ КВАЛИФИКАЦИОННАЯ РАБОТА   Разработка программного комплекса для детектирования дрифта данных и адаптивного переобучения моделей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Admin</dc:creator>
  <cp:lastModifiedBy>John Doe</cp:lastModifiedBy>
  <cp:revision>38</cp:revision>
  <dcterms:created xsi:type="dcterms:W3CDTF">2020-07-17T15:52:34Z</dcterms:created>
  <dcterms:modified xsi:type="dcterms:W3CDTF">2026-05-27T20:53:46Z</dcterms:modified>
</cp:coreProperties>
</file>